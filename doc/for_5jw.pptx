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2" r:id="rId4"/>
    <p:sldId id="266" r:id="rId5"/>
    <p:sldId id="263" r:id="rId6"/>
    <p:sldId id="269" r:id="rId7"/>
    <p:sldId id="270" r:id="rId8"/>
    <p:sldId id="267" r:id="rId9"/>
    <p:sldId id="278" r:id="rId10"/>
    <p:sldId id="277" r:id="rId11"/>
    <p:sldId id="287" r:id="rId12"/>
    <p:sldId id="286" r:id="rId13"/>
    <p:sldId id="288" r:id="rId14"/>
    <p:sldId id="284" r:id="rId15"/>
    <p:sldId id="279" r:id="rId16"/>
    <p:sldId id="272" r:id="rId17"/>
    <p:sldId id="273" r:id="rId18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2" autoAdjust="0"/>
  </p:normalViewPr>
  <p:slideViewPr>
    <p:cSldViewPr snapToGrid="0">
      <p:cViewPr>
        <p:scale>
          <a:sx n="100" d="100"/>
          <a:sy n="100" d="100"/>
        </p:scale>
        <p:origin x="167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hei\Downloads\&#12417;&#12360;&#12360;&#12360;&#12360;&#12360;\3gpp_ana_sep_new\doc\Demo_Excel_nullRate\null_report_table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hei\Downloads\3gpp_ana_sep\&#12487;&#12540;&#12479;&#20998;&#26512;&#20363;\Applications_ETPR_I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hei\Downloads\3gpp_ana_sep\&#12487;&#12540;&#12479;&#20998;&#26512;&#20363;\ETPR_ID_87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Sheet1!$D$36</c:f>
              <c:strCache>
                <c:ptCount val="1"/>
                <c:pt idx="0">
                  <c:v>Ericsson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Sheet1!$E$35:$R$35</c:f>
              <c:strCache>
                <c:ptCount val="14"/>
                <c:pt idx="0">
                  <c:v>LICD_REC_CONDI_FLAG</c:v>
                </c:pt>
                <c:pt idx="1">
                  <c:v>DIPG_PATF_ID</c:v>
                </c:pt>
                <c:pt idx="2">
                  <c:v>PUBL_NUMBER</c:v>
                </c:pt>
                <c:pt idx="3">
                  <c:v>PBPA_APP_DATE</c:v>
                </c:pt>
                <c:pt idx="4">
                  <c:v>TGPP_NUMBER</c:v>
                </c:pt>
                <c:pt idx="5">
                  <c:v>TGPV_VERSION</c:v>
                </c:pt>
                <c:pt idx="6">
                  <c:v>Standard</c:v>
                </c:pt>
                <c:pt idx="7">
                  <c:v>Gen_2G</c:v>
                </c:pt>
                <c:pt idx="8">
                  <c:v>Gen_3G</c:v>
                </c:pt>
                <c:pt idx="9">
                  <c:v>Gen_4G</c:v>
                </c:pt>
                <c:pt idx="10">
                  <c:v>Gen_5G</c:v>
                </c:pt>
                <c:pt idx="11">
                  <c:v>Ess_To_Standard</c:v>
                </c:pt>
                <c:pt idx="12">
                  <c:v>Ess_To_Project</c:v>
                </c:pt>
                <c:pt idx="13">
                  <c:v>Illustrative_Part</c:v>
                </c:pt>
              </c:strCache>
            </c:strRef>
          </c:cat>
          <c:val>
            <c:numRef>
              <c:f>Sheet1!$E$36:$R$36</c:f>
              <c:numCache>
                <c:formatCode>General</c:formatCode>
                <c:ptCount val="14"/>
                <c:pt idx="0">
                  <c:v>34.68</c:v>
                </c:pt>
                <c:pt idx="1">
                  <c:v>8.1300000000000008</c:v>
                </c:pt>
                <c:pt idx="2">
                  <c:v>19.04</c:v>
                </c:pt>
                <c:pt idx="3">
                  <c:v>13.09</c:v>
                </c:pt>
                <c:pt idx="4">
                  <c:v>34.67</c:v>
                </c:pt>
                <c:pt idx="5">
                  <c:v>53.16</c:v>
                </c:pt>
                <c:pt idx="6">
                  <c:v>31.74</c:v>
                </c:pt>
                <c:pt idx="7">
                  <c:v>34.74</c:v>
                </c:pt>
                <c:pt idx="8">
                  <c:v>34.74</c:v>
                </c:pt>
                <c:pt idx="9">
                  <c:v>34.74</c:v>
                </c:pt>
                <c:pt idx="10">
                  <c:v>34.74</c:v>
                </c:pt>
                <c:pt idx="11">
                  <c:v>31.74</c:v>
                </c:pt>
                <c:pt idx="12">
                  <c:v>0.02</c:v>
                </c:pt>
                <c:pt idx="13">
                  <c:v>64.95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C3-473D-8270-9B2C6C34493A}"/>
            </c:ext>
          </c:extLst>
        </c:ser>
        <c:ser>
          <c:idx val="1"/>
          <c:order val="1"/>
          <c:tx>
            <c:strRef>
              <c:f>Sheet1!$D$37</c:f>
              <c:strCache>
                <c:ptCount val="1"/>
                <c:pt idx="0">
                  <c:v>Huawei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Sheet1!$E$35:$R$35</c:f>
              <c:strCache>
                <c:ptCount val="14"/>
                <c:pt idx="0">
                  <c:v>LICD_REC_CONDI_FLAG</c:v>
                </c:pt>
                <c:pt idx="1">
                  <c:v>DIPG_PATF_ID</c:v>
                </c:pt>
                <c:pt idx="2">
                  <c:v>PUBL_NUMBER</c:v>
                </c:pt>
                <c:pt idx="3">
                  <c:v>PBPA_APP_DATE</c:v>
                </c:pt>
                <c:pt idx="4">
                  <c:v>TGPP_NUMBER</c:v>
                </c:pt>
                <c:pt idx="5">
                  <c:v>TGPV_VERSION</c:v>
                </c:pt>
                <c:pt idx="6">
                  <c:v>Standard</c:v>
                </c:pt>
                <c:pt idx="7">
                  <c:v>Gen_2G</c:v>
                </c:pt>
                <c:pt idx="8">
                  <c:v>Gen_3G</c:v>
                </c:pt>
                <c:pt idx="9">
                  <c:v>Gen_4G</c:v>
                </c:pt>
                <c:pt idx="10">
                  <c:v>Gen_5G</c:v>
                </c:pt>
                <c:pt idx="11">
                  <c:v>Ess_To_Standard</c:v>
                </c:pt>
                <c:pt idx="12">
                  <c:v>Ess_To_Project</c:v>
                </c:pt>
                <c:pt idx="13">
                  <c:v>Illustrative_Part</c:v>
                </c:pt>
              </c:strCache>
            </c:strRef>
          </c:cat>
          <c:val>
            <c:numRef>
              <c:f>Sheet1!$E$37:$R$37</c:f>
              <c:numCache>
                <c:formatCode>General</c:formatCode>
                <c:ptCount val="14"/>
                <c:pt idx="0">
                  <c:v>0.39</c:v>
                </c:pt>
                <c:pt idx="1">
                  <c:v>9.0399999999999991</c:v>
                </c:pt>
                <c:pt idx="2">
                  <c:v>12.27</c:v>
                </c:pt>
                <c:pt idx="3">
                  <c:v>8.69</c:v>
                </c:pt>
                <c:pt idx="4">
                  <c:v>2.2599999999999998</c:v>
                </c:pt>
                <c:pt idx="5">
                  <c:v>99.81</c:v>
                </c:pt>
                <c:pt idx="6">
                  <c:v>0.08</c:v>
                </c:pt>
                <c:pt idx="7">
                  <c:v>2.2799999999999998</c:v>
                </c:pt>
                <c:pt idx="8">
                  <c:v>2.2799999999999998</c:v>
                </c:pt>
                <c:pt idx="9">
                  <c:v>2.2799999999999998</c:v>
                </c:pt>
                <c:pt idx="10">
                  <c:v>2.2799999999999998</c:v>
                </c:pt>
                <c:pt idx="11">
                  <c:v>0.08</c:v>
                </c:pt>
                <c:pt idx="12">
                  <c:v>0.32</c:v>
                </c:pt>
                <c:pt idx="13">
                  <c:v>99.85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C3-473D-8270-9B2C6C34493A}"/>
            </c:ext>
          </c:extLst>
        </c:ser>
        <c:ser>
          <c:idx val="2"/>
          <c:order val="2"/>
          <c:tx>
            <c:strRef>
              <c:f>Sheet1!$D$38</c:f>
              <c:strCache>
                <c:ptCount val="1"/>
                <c:pt idx="0">
                  <c:v>NEC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Sheet1!$E$35:$R$35</c:f>
              <c:strCache>
                <c:ptCount val="14"/>
                <c:pt idx="0">
                  <c:v>LICD_REC_CONDI_FLAG</c:v>
                </c:pt>
                <c:pt idx="1">
                  <c:v>DIPG_PATF_ID</c:v>
                </c:pt>
                <c:pt idx="2">
                  <c:v>PUBL_NUMBER</c:v>
                </c:pt>
                <c:pt idx="3">
                  <c:v>PBPA_APP_DATE</c:v>
                </c:pt>
                <c:pt idx="4">
                  <c:v>TGPP_NUMBER</c:v>
                </c:pt>
                <c:pt idx="5">
                  <c:v>TGPV_VERSION</c:v>
                </c:pt>
                <c:pt idx="6">
                  <c:v>Standard</c:v>
                </c:pt>
                <c:pt idx="7">
                  <c:v>Gen_2G</c:v>
                </c:pt>
                <c:pt idx="8">
                  <c:v>Gen_3G</c:v>
                </c:pt>
                <c:pt idx="9">
                  <c:v>Gen_4G</c:v>
                </c:pt>
                <c:pt idx="10">
                  <c:v>Gen_5G</c:v>
                </c:pt>
                <c:pt idx="11">
                  <c:v>Ess_To_Standard</c:v>
                </c:pt>
                <c:pt idx="12">
                  <c:v>Ess_To_Project</c:v>
                </c:pt>
                <c:pt idx="13">
                  <c:v>Illustrative_Part</c:v>
                </c:pt>
              </c:strCache>
            </c:strRef>
          </c:cat>
          <c:val>
            <c:numRef>
              <c:f>Sheet1!$E$38:$R$38</c:f>
              <c:numCache>
                <c:formatCode>General</c:formatCode>
                <c:ptCount val="14"/>
                <c:pt idx="0">
                  <c:v>0</c:v>
                </c:pt>
                <c:pt idx="1">
                  <c:v>2.46</c:v>
                </c:pt>
                <c:pt idx="2">
                  <c:v>5.79</c:v>
                </c:pt>
                <c:pt idx="3">
                  <c:v>4.25</c:v>
                </c:pt>
                <c:pt idx="4">
                  <c:v>5.42</c:v>
                </c:pt>
                <c:pt idx="5">
                  <c:v>16.579999999999998</c:v>
                </c:pt>
                <c:pt idx="6">
                  <c:v>0.03</c:v>
                </c:pt>
                <c:pt idx="7">
                  <c:v>5.42</c:v>
                </c:pt>
                <c:pt idx="8">
                  <c:v>5.42</c:v>
                </c:pt>
                <c:pt idx="9">
                  <c:v>5.42</c:v>
                </c:pt>
                <c:pt idx="10">
                  <c:v>5.42</c:v>
                </c:pt>
                <c:pt idx="11">
                  <c:v>0.03</c:v>
                </c:pt>
                <c:pt idx="12">
                  <c:v>0.01</c:v>
                </c:pt>
                <c:pt idx="13">
                  <c:v>11.02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C3-473D-8270-9B2C6C34493A}"/>
            </c:ext>
          </c:extLst>
        </c:ser>
        <c:ser>
          <c:idx val="3"/>
          <c:order val="3"/>
          <c:tx>
            <c:strRef>
              <c:f>Sheet1!$D$39</c:f>
              <c:strCache>
                <c:ptCount val="1"/>
                <c:pt idx="0">
                  <c:v>NTT_Docomo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Sheet1!$E$35:$R$35</c:f>
              <c:strCache>
                <c:ptCount val="14"/>
                <c:pt idx="0">
                  <c:v>LICD_REC_CONDI_FLAG</c:v>
                </c:pt>
                <c:pt idx="1">
                  <c:v>DIPG_PATF_ID</c:v>
                </c:pt>
                <c:pt idx="2">
                  <c:v>PUBL_NUMBER</c:v>
                </c:pt>
                <c:pt idx="3">
                  <c:v>PBPA_APP_DATE</c:v>
                </c:pt>
                <c:pt idx="4">
                  <c:v>TGPP_NUMBER</c:v>
                </c:pt>
                <c:pt idx="5">
                  <c:v>TGPV_VERSION</c:v>
                </c:pt>
                <c:pt idx="6">
                  <c:v>Standard</c:v>
                </c:pt>
                <c:pt idx="7">
                  <c:v>Gen_2G</c:v>
                </c:pt>
                <c:pt idx="8">
                  <c:v>Gen_3G</c:v>
                </c:pt>
                <c:pt idx="9">
                  <c:v>Gen_4G</c:v>
                </c:pt>
                <c:pt idx="10">
                  <c:v>Gen_5G</c:v>
                </c:pt>
                <c:pt idx="11">
                  <c:v>Ess_To_Standard</c:v>
                </c:pt>
                <c:pt idx="12">
                  <c:v>Ess_To_Project</c:v>
                </c:pt>
                <c:pt idx="13">
                  <c:v>Illustrative_Part</c:v>
                </c:pt>
              </c:strCache>
            </c:strRef>
          </c:cat>
          <c:val>
            <c:numRef>
              <c:f>Sheet1!$E$39:$R$39</c:f>
              <c:numCache>
                <c:formatCode>General</c:formatCode>
                <c:ptCount val="14"/>
                <c:pt idx="0">
                  <c:v>0</c:v>
                </c:pt>
                <c:pt idx="1">
                  <c:v>1.84</c:v>
                </c:pt>
                <c:pt idx="2">
                  <c:v>6.74</c:v>
                </c:pt>
                <c:pt idx="3">
                  <c:v>1.97</c:v>
                </c:pt>
                <c:pt idx="4">
                  <c:v>0.81</c:v>
                </c:pt>
                <c:pt idx="5">
                  <c:v>0.96</c:v>
                </c:pt>
                <c:pt idx="6">
                  <c:v>0.51</c:v>
                </c:pt>
                <c:pt idx="7">
                  <c:v>0.84</c:v>
                </c:pt>
                <c:pt idx="8">
                  <c:v>0.84</c:v>
                </c:pt>
                <c:pt idx="9">
                  <c:v>0.84</c:v>
                </c:pt>
                <c:pt idx="10">
                  <c:v>0.84</c:v>
                </c:pt>
                <c:pt idx="11">
                  <c:v>0.51</c:v>
                </c:pt>
                <c:pt idx="12">
                  <c:v>2.63</c:v>
                </c:pt>
                <c:pt idx="13">
                  <c:v>34.270000000000003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C3-473D-8270-9B2C6C34493A}"/>
            </c:ext>
          </c:extLst>
        </c:ser>
        <c:ser>
          <c:idx val="4"/>
          <c:order val="4"/>
          <c:tx>
            <c:strRef>
              <c:f>Sheet1!$D$40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Sheet1!$E$35:$R$35</c:f>
              <c:strCache>
                <c:ptCount val="14"/>
                <c:pt idx="0">
                  <c:v>LICD_REC_CONDI_FLAG</c:v>
                </c:pt>
                <c:pt idx="1">
                  <c:v>DIPG_PATF_ID</c:v>
                </c:pt>
                <c:pt idx="2">
                  <c:v>PUBL_NUMBER</c:v>
                </c:pt>
                <c:pt idx="3">
                  <c:v>PBPA_APP_DATE</c:v>
                </c:pt>
                <c:pt idx="4">
                  <c:v>TGPP_NUMBER</c:v>
                </c:pt>
                <c:pt idx="5">
                  <c:v>TGPV_VERSION</c:v>
                </c:pt>
                <c:pt idx="6">
                  <c:v>Standard</c:v>
                </c:pt>
                <c:pt idx="7">
                  <c:v>Gen_2G</c:v>
                </c:pt>
                <c:pt idx="8">
                  <c:v>Gen_3G</c:v>
                </c:pt>
                <c:pt idx="9">
                  <c:v>Gen_4G</c:v>
                </c:pt>
                <c:pt idx="10">
                  <c:v>Gen_5G</c:v>
                </c:pt>
                <c:pt idx="11">
                  <c:v>Ess_To_Standard</c:v>
                </c:pt>
                <c:pt idx="12">
                  <c:v>Ess_To_Project</c:v>
                </c:pt>
                <c:pt idx="13">
                  <c:v>Illustrative_Part</c:v>
                </c:pt>
              </c:strCache>
            </c:strRef>
          </c:cat>
          <c:val>
            <c:numRef>
              <c:f>Sheet1!$E$40:$R$40</c:f>
              <c:numCache>
                <c:formatCode>General</c:formatCode>
                <c:ptCount val="14"/>
                <c:pt idx="0">
                  <c:v>0.97</c:v>
                </c:pt>
                <c:pt idx="1">
                  <c:v>0</c:v>
                </c:pt>
                <c:pt idx="2">
                  <c:v>3.73</c:v>
                </c:pt>
                <c:pt idx="3">
                  <c:v>0</c:v>
                </c:pt>
                <c:pt idx="4">
                  <c:v>0</c:v>
                </c:pt>
                <c:pt idx="5">
                  <c:v>0.24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0.97</c:v>
                </c:pt>
                <c:pt idx="13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C3-473D-8270-9B2C6C344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9058288"/>
        <c:axId val="229055888"/>
      </c:barChart>
      <c:catAx>
        <c:axId val="22905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ja-JP"/>
          </a:p>
        </c:txPr>
        <c:crossAx val="229055888"/>
        <c:crosses val="autoZero"/>
        <c:auto val="1"/>
        <c:lblAlgn val="ctr"/>
        <c:lblOffset val="100"/>
        <c:noMultiLvlLbl val="0"/>
      </c:catAx>
      <c:valAx>
        <c:axId val="22905588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sz="1600">
                    <a:solidFill>
                      <a:schemeClr val="tx1"/>
                    </a:solidFill>
                  </a:rPr>
                  <a:t>NULL RATE[%]</a:t>
                </a:r>
                <a:endParaRPr lang="ja-JP" sz="16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ja-JP"/>
          </a:p>
        </c:txPr>
        <c:crossAx val="229058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Segoe UI" panose="020B0502040204020203" pitchFamily="34" charset="0"/>
          <a:cs typeface="Segoe UI" panose="020B0502040204020203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cap="all" baseline="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Sheet1!$H$3</c:f>
              <c:strCache>
                <c:ptCount val="1"/>
                <c:pt idx="0">
                  <c:v>Applications/ETPR_ID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8DE-4CCC-A98B-DF01498CE4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8DE-4CCC-A98B-DF01498CE4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8DE-4CCC-A98B-DF01498CE4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8DE-4CCC-A98B-DF01498CE4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8DE-4CCC-A98B-DF01498CE4A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8DE-4CCC-A98B-DF01498CE4A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8DE-4CCC-A98B-DF01498CE4A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58DE-4CCC-A98B-DF01498CE4A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58DE-4CCC-A98B-DF01498CE4A9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58DE-4CCC-A98B-DF01498CE4A9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58DE-4CCC-A98B-DF01498CE4A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58DE-4CCC-A98B-DF01498CE4A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2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58DE-4CCC-A98B-DF01498CE4A9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3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58DE-4CCC-A98B-DF01498CE4A9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4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58DE-4CCC-A98B-DF01498CE4A9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5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58DE-4CCC-A98B-DF01498CE4A9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6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B-58DE-4CCC-A98B-DF01498CE4A9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D-58DE-4CCC-A98B-DF01498CE4A9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2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F-58DE-4CCC-A98B-DF01498CE4A9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3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1-58DE-4CCC-A98B-DF01498CE4A9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3-58DE-4CCC-A98B-DF01498CE4A9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5-58DE-4CCC-A98B-DF01498CE4A9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accent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ja-JP"/>
              </a:p>
            </c:txPr>
            <c:dLblPos val="outEnd"/>
            <c:showLegendKey val="1"/>
            <c:showVal val="0"/>
            <c:showCatName val="1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Sheet1!$G$4:$G$14</c:f>
              <c:strCache>
                <c:ptCount val="11"/>
                <c:pt idx="0">
                  <c:v>1253</c:v>
                </c:pt>
                <c:pt idx="1">
                  <c:v>1333</c:v>
                </c:pt>
                <c:pt idx="2">
                  <c:v>1276</c:v>
                </c:pt>
                <c:pt idx="3">
                  <c:v>1228</c:v>
                </c:pt>
                <c:pt idx="4">
                  <c:v>133</c:v>
                </c:pt>
                <c:pt idx="5">
                  <c:v>1256</c:v>
                </c:pt>
                <c:pt idx="6">
                  <c:v>64</c:v>
                </c:pt>
                <c:pt idx="7">
                  <c:v>453</c:v>
                </c:pt>
                <c:pt idx="8">
                  <c:v>134</c:v>
                </c:pt>
                <c:pt idx="9">
                  <c:v>30</c:v>
                </c:pt>
                <c:pt idx="10">
                  <c:v>Other</c:v>
                </c:pt>
              </c:strCache>
            </c:strRef>
          </c:cat>
          <c:val>
            <c:numRef>
              <c:f>Sheet1!$H$4:$H$14</c:f>
              <c:numCache>
                <c:formatCode>General</c:formatCode>
                <c:ptCount val="11"/>
                <c:pt idx="0">
                  <c:v>30747</c:v>
                </c:pt>
                <c:pt idx="1">
                  <c:v>18352</c:v>
                </c:pt>
                <c:pt idx="2">
                  <c:v>11466</c:v>
                </c:pt>
                <c:pt idx="3">
                  <c:v>6658</c:v>
                </c:pt>
                <c:pt idx="4">
                  <c:v>5645</c:v>
                </c:pt>
                <c:pt idx="5">
                  <c:v>5191</c:v>
                </c:pt>
                <c:pt idx="6">
                  <c:v>4095</c:v>
                </c:pt>
                <c:pt idx="7">
                  <c:v>3182</c:v>
                </c:pt>
                <c:pt idx="8">
                  <c:v>3157</c:v>
                </c:pt>
                <c:pt idx="9">
                  <c:v>2822</c:v>
                </c:pt>
                <c:pt idx="10">
                  <c:v>31082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58DE-4CCC-A98B-DF01498CE4A9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latin typeface="Segoe UI" panose="020B0502040204020203" pitchFamily="34" charset="0"/>
          <a:cs typeface="Segoe UI" panose="020B0502040204020203" pitchFamily="34" charset="0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en-US" sz="1600">
                <a:solidFill>
                  <a:schemeClr val="tx1"/>
                </a:solidFill>
              </a:rPr>
              <a:t>3GPP-Release-12 | GSM Phase 2+ and UMTS/LTE/LTE-Advanced release 12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73E-4C45-B93F-F6F49F3DF24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73E-4C45-B93F-F6F49F3DF24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73E-4C45-B93F-F6F49F3DF24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73E-4C45-B93F-F6F49F3DF24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973E-4C45-B93F-F6F49F3DF24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73E-4C45-B93F-F6F49F3DF24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973E-4C45-B93F-F6F49F3DF24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973E-4C45-B93F-F6F49F3DF24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973E-4C45-B93F-F6F49F3DF24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973E-4C45-B93F-F6F49F3DF247}"/>
              </c:ext>
            </c:extLst>
          </c:dPt>
          <c:dLbls>
            <c:dLbl>
              <c:idx val="0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973E-4C45-B93F-F6F49F3DF247}"/>
                </c:ext>
              </c:extLst>
            </c:dLbl>
            <c:dLbl>
              <c:idx val="1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2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973E-4C45-B93F-F6F49F3DF247}"/>
                </c:ext>
              </c:extLst>
            </c:dLbl>
            <c:dLbl>
              <c:idx val="2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3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973E-4C45-B93F-F6F49F3DF247}"/>
                </c:ext>
              </c:extLst>
            </c:dLbl>
            <c:dLbl>
              <c:idx val="3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4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973E-4C45-B93F-F6F49F3DF247}"/>
                </c:ext>
              </c:extLst>
            </c:dLbl>
            <c:dLbl>
              <c:idx val="4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5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973E-4C45-B93F-F6F49F3DF247}"/>
                </c:ext>
              </c:extLst>
            </c:dLbl>
            <c:dLbl>
              <c:idx val="5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6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B-973E-4C45-B93F-F6F49F3DF247}"/>
                </c:ext>
              </c:extLst>
            </c:dLbl>
            <c:dLbl>
              <c:idx val="6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1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D-973E-4C45-B93F-F6F49F3DF247}"/>
                </c:ext>
              </c:extLst>
            </c:dLbl>
            <c:dLbl>
              <c:idx val="7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2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F-973E-4C45-B93F-F6F49F3DF247}"/>
                </c:ext>
              </c:extLst>
            </c:dLbl>
            <c:dLbl>
              <c:idx val="8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3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1-973E-4C45-B93F-F6F49F3DF247}"/>
                </c:ext>
              </c:extLst>
            </c:dLbl>
            <c:dLbl>
              <c:idx val="9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none" lIns="36576" tIns="18288" rIns="36576" bIns="18288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4">
                          <a:lumMod val="60000"/>
                        </a:schemeClr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ja-JP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3-973E-4C45-B93F-F6F49F3DF247}"/>
                </c:ext>
              </c:extLst>
            </c:dLbl>
            <c:spPr>
              <a:ln>
                <a:noFill/>
              </a:ln>
            </c:spPr>
            <c:txPr>
              <a:bodyPr rot="0" spcFirstLastPara="1" vertOverflow="clip" horzOverflow="clip" vert="horz" wrap="none" lIns="36576" tIns="18288" rIns="36576" bIns="18288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ja-JP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Sheet1!$B$3:$B$12</c:f>
              <c:strCache>
                <c:ptCount val="10"/>
                <c:pt idx="0">
                  <c:v>Sun Patent Trust</c:v>
                </c:pt>
                <c:pt idx="1">
                  <c:v>Sharp Corporation</c:v>
                </c:pt>
                <c:pt idx="2">
                  <c:v>Qualcomm Incorporated</c:v>
                </c:pt>
                <c:pt idx="3">
                  <c:v>Motorola Mobility Inc</c:v>
                </c:pt>
                <c:pt idx="4">
                  <c:v>LG Electronics Inc</c:v>
                </c:pt>
                <c:pt idx="5">
                  <c:v>Panasonic Holdings Corporation</c:v>
                </c:pt>
                <c:pt idx="6">
                  <c:v>NTT DOCOMO INC</c:v>
                </c:pt>
                <c:pt idx="7">
                  <c:v>Sony Corporation</c:v>
                </c:pt>
                <c:pt idx="8">
                  <c:v>Sony Group Corporation</c:v>
                </c:pt>
                <c:pt idx="9">
                  <c:v>Other</c:v>
                </c:pt>
              </c:strCache>
            </c:strRef>
          </c:cat>
          <c:val>
            <c:numRef>
              <c:f>Sheet1!$C$3:$C$12</c:f>
              <c:numCache>
                <c:formatCode>General</c:formatCode>
                <c:ptCount val="10"/>
                <c:pt idx="0">
                  <c:v>21107</c:v>
                </c:pt>
                <c:pt idx="1">
                  <c:v>7464</c:v>
                </c:pt>
                <c:pt idx="2">
                  <c:v>5849</c:v>
                </c:pt>
                <c:pt idx="3">
                  <c:v>3719</c:v>
                </c:pt>
                <c:pt idx="4">
                  <c:v>3530</c:v>
                </c:pt>
                <c:pt idx="5">
                  <c:v>2860</c:v>
                </c:pt>
                <c:pt idx="6">
                  <c:v>1811</c:v>
                </c:pt>
                <c:pt idx="7">
                  <c:v>1541</c:v>
                </c:pt>
                <c:pt idx="8">
                  <c:v>1220</c:v>
                </c:pt>
                <c:pt idx="9">
                  <c:v>2497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73E-4C45-B93F-F6F49F3DF247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latin typeface="Segoe UI" panose="020B0502040204020203" pitchFamily="34" charset="0"/>
          <a:cs typeface="Segoe UI" panose="020B0502040204020203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625B35F3-F74B-4759-9A32-1AEDA0A58960}" type="datetimeFigureOut">
              <a:rPr lang="ja-JP" altLang="en-US" smtClean="0"/>
              <a:pPr/>
              <a:t>2026/2/15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02FD8027-5F76-4A17-9374-05E3DB822F7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733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398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0257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FBC3-4782-A8BC-FC29-36CC1DA6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9BBA30-F9F1-2617-4D33-B59ED7CD9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7DAFA30-F8EF-8B3E-7CF8-6F583B423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7E13AF-BC5D-B961-3BFE-F36D1777C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361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800F-FACB-0519-990F-F997604A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F0D5755-2A0E-A975-227A-46F22D6DB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305625-4F5C-5F1A-73A8-CE139BB10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6119EB-3305-BED6-EBEC-54C076475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D8027-5F76-4A17-9374-05E3DB822F7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729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B78B51-E10A-EF77-9D52-32F839BFE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4B573C-6190-3CF2-D46C-84ED73EF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E1ABDB-5D9F-3AA1-6D56-3C823FF7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5480-E719-4780-AD73-8C1E6B299F51}" type="datetime1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7A845E-B03B-6F71-A907-CEAF5D2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13352-44DC-8C81-CB8F-46BD066A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CC0EE-B6C6-4FD0-9EEE-3BB4440905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47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C627A-2CFB-2872-136D-8656B27B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C25C7B-C98E-9F01-6DA3-C2079C8D1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1ACEE-10CD-AEF0-A729-A6117EA0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4EC2-0C81-445B-89B7-D24E3FCF13B8}" type="datetime1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F09035-66F3-96B9-5048-B09192A9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E1254F-98A0-2267-87F3-D12510FD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CC0EE-B6C6-4FD0-9EEE-3BB4440905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64D16-4556-43C6-828F-C8D71D9F51C3}" type="datetime1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372D9B52-8236-EC3A-2203-A2FD477C6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038" y="797650"/>
            <a:ext cx="8543924" cy="36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82B55F-4C1A-8516-FAB7-0F9431CAEA91}"/>
              </a:ext>
            </a:extLst>
          </p:cNvPr>
          <p:cNvCxnSpPr>
            <a:cxnSpLocks/>
          </p:cNvCxnSpPr>
          <p:nvPr userDrawn="1"/>
        </p:nvCxnSpPr>
        <p:spPr>
          <a:xfrm>
            <a:off x="681038" y="115765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09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64D16-4556-43C6-828F-C8D71D9F51C3}" type="datetime1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563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6AFBD1B9-5CE7-12B7-5FB8-83B6072F49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29000"/>
            <a:ext cx="9906000" cy="54000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0127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BACC24-8CB5-CA18-A160-ECD07191B6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729000"/>
            <a:ext cx="9906000" cy="5399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6282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BACC24-8CB5-CA18-A160-ECD07191B6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729001"/>
            <a:ext cx="9906000" cy="324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61FFE193-6040-631B-6BD6-8617D10C16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0" y="4058611"/>
            <a:ext cx="9906000" cy="20703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803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FBF21C8A-EEE9-A232-6B5F-67A1488548F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0" y="728999"/>
            <a:ext cx="9906000" cy="54000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333B73-D43E-A2BD-A19C-85E8B6CA1664}"/>
              </a:ext>
            </a:extLst>
          </p:cNvPr>
          <p:cNvCxnSpPr>
            <a:cxnSpLocks/>
          </p:cNvCxnSpPr>
          <p:nvPr userDrawn="1"/>
        </p:nvCxnSpPr>
        <p:spPr>
          <a:xfrm>
            <a:off x="0" y="639390"/>
            <a:ext cx="92249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B53E592F-81AF-433A-A417-92BDA7758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6138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E47853A5-6304-2A63-97C8-28E0C11818AC}"/>
              </a:ext>
            </a:extLst>
          </p:cNvPr>
          <p:cNvSpPr/>
          <p:nvPr userDrawn="1"/>
        </p:nvSpPr>
        <p:spPr>
          <a:xfrm>
            <a:off x="9266612" y="99390"/>
            <a:ext cx="540000" cy="54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7D9EE1E-117C-355C-9413-E972E463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15C0C-9685-CEBE-3174-A7B1CFF6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694-EA2C-4E5A-9C92-38532A2F00E3}" type="datetime1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BAF2DD-6C16-BEA7-FD02-B178028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2ACF96-D69D-754F-05E4-BED77772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6358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8CA1C3-6A9F-6C8F-08CB-5EC464F0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47E39-6747-ACA7-0EE7-DDBEBFB9B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278372-E27B-0A08-30F7-E7C8F8F40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56231A5F-0807-4B36-BBA7-63BE65B3094D}" type="datetime1">
              <a:rPr lang="ja-JP" altLang="en-US" smtClean="0"/>
              <a:t>2026/2/15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0126CF-6A6E-FEC9-1549-B004F7B77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83699-A4F4-495D-BE35-1B128A440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A08998BD-9759-42E8-BE15-7691A16D7AD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212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49" r:id="rId3"/>
    <p:sldLayoutId id="2147483658" r:id="rId4"/>
    <p:sldLayoutId id="2147483659" r:id="rId5"/>
    <p:sldLayoutId id="2147483661" r:id="rId6"/>
    <p:sldLayoutId id="2147483662" r:id="rId7"/>
    <p:sldLayoutId id="2147483660" r:id="rId8"/>
    <p:sldLayoutId id="2147483657" r:id="rId9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box.etsi.org/IPR/Ope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pp.powerbi.com/view?r=eyJrIjoiNjE3YmZlYTktMGZhYi00YmRlLTk2N2EtMTczMzFkMjMwMGRkIiwidCI6ImU2NzQ2YWI1LWViZGMtNGU5ZC04MjFiLWE3MWJkYWY2M2Q5YiIsImMiOjl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box.etsi.org/IPR/Open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pr.etsi.org/IPRDetails.aspx?IPRD_ID=2381&amp;IPRD_TYPE_ID=2&amp;MODE=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etsi.org/index.php?title=ETSI_IPR_Reporting_Solutions" TargetMode="External"/><Relationship Id="rId2" Type="http://schemas.openxmlformats.org/officeDocument/2006/relationships/hyperlink" Target="https://docbox.etsi.org/IPR/Open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ipr.etsi.org/IPRDetails.aspx?IPRD_ID=2381&amp;IPRD_TYPE_ID=2&amp;MODE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84498-9DD6-1818-3FF5-44ACD10E6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 anchorCtr="0">
            <a:normAutofit/>
          </a:bodyPr>
          <a:lstStyle/>
          <a:p>
            <a:r>
              <a:rPr lang="en-US" altLang="ja-JP" sz="4000" u="sng" dirty="0">
                <a:hlinkClick r:id="rId2"/>
              </a:rPr>
              <a:t>IPR reporting data</a:t>
            </a:r>
            <a:r>
              <a:rPr lang="ja-JP" altLang="en-US" sz="4000" dirty="0"/>
              <a:t>を見つめる</a:t>
            </a:r>
            <a:endParaRPr kumimoji="1" lang="ja-JP" altLang="en-US" sz="4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F97A45-BEB5-0F65-777E-DFD3EA8FB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5JW </a:t>
            </a:r>
            <a:r>
              <a:rPr kumimoji="1" lang="ja-JP" altLang="en-US" dirty="0"/>
              <a:t>飯星　陽平</a:t>
            </a:r>
          </a:p>
        </p:txBody>
      </p:sp>
    </p:spTree>
    <p:extLst>
      <p:ext uri="{BB962C8B-B14F-4D97-AF65-F5344CB8AC3E}">
        <p14:creationId xmlns:p14="http://schemas.microsoft.com/office/powerpoint/2010/main" val="84538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BC93993-84A8-5EC3-7856-DBFE60440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公式の分析ツール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376295-82D0-A58A-0501-831AFB1C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8998BD-9759-42E8-BE15-7691A16D7AD5}" type="slidenum">
              <a:rPr lang="ja-JP" altLang="en-US" smtClean="0"/>
              <a:pPr>
                <a:spcAft>
                  <a:spcPts val="600"/>
                </a:spcAft>
              </a:pPr>
              <a:t>1</a:t>
            </a:fld>
            <a:endParaRPr lang="ja-JP" altLang="en-US"/>
          </a:p>
        </p:txBody>
      </p:sp>
      <p:pic>
        <p:nvPicPr>
          <p:cNvPr id="8" name="図プレースホルダー 7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67B7874-C861-EE33-492B-301EB72D8E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3691" b="-1"/>
          <a:stretch>
            <a:fillRect/>
          </a:stretch>
        </p:blipFill>
        <p:spPr>
          <a:xfrm>
            <a:off x="20" y="729000"/>
            <a:ext cx="9905980" cy="5400000"/>
          </a:xfrm>
          <a:prstGeom prst="rect">
            <a:avLst/>
          </a:prstGeom>
          <a:noFill/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346396-89A7-6666-EAC5-D946DA507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/>
          <a:p>
            <a:r>
              <a:rPr lang="en-US" altLang="ja-JP" u="sng" dirty="0">
                <a:hlinkClick r:id="rId4"/>
              </a:rPr>
              <a:t>ETSI Power BI report</a:t>
            </a:r>
            <a:r>
              <a:rPr lang="ja-JP" altLang="en-US" dirty="0"/>
              <a:t>から、企業毎の宣言数が確認可能である。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96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プレースホルダー 6">
            <a:extLst>
              <a:ext uri="{FF2B5EF4-FFF2-40B4-BE49-F238E27FC236}">
                <a16:creationId xmlns:a16="http://schemas.microsoft.com/office/drawing/2014/main" id="{724B676A-2D25-F81A-62B8-CFFD5DB4327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715054969"/>
              </p:ext>
            </p:extLst>
          </p:nvPr>
        </p:nvGraphicFramePr>
        <p:xfrm>
          <a:off x="273000" y="720000"/>
          <a:ext cx="9360000" cy="5418005"/>
        </p:xfrm>
        <a:graphic>
          <a:graphicData uri="http://schemas.openxmlformats.org/drawingml/2006/table">
            <a:tbl>
              <a:tblPr bandCol="1">
                <a:tableStyleId>{00A15C55-8517-42AA-B614-E9B94910E393}</a:tableStyleId>
              </a:tblPr>
              <a:tblGrid>
                <a:gridCol w="1560000">
                  <a:extLst>
                    <a:ext uri="{9D8B030D-6E8A-4147-A177-3AD203B41FA5}">
                      <a16:colId xmlns:a16="http://schemas.microsoft.com/office/drawing/2014/main" val="1782511501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115152296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110453634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547519612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3807360440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2924762204"/>
                    </a:ext>
                  </a:extLst>
                </a:gridCol>
              </a:tblGrid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WOIT_REFERENCE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RTS/TSGR-0236300vc40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r-FR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600161240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WOIT_VERSION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12.4.0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40824127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IPRD_SIGNATURE_DATE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2016/8/31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3GPP_Type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Original_Application_Number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95764418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Reflected_Date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2016/10/6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TGPP_NUMBER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36.3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Original_Publication_Number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731212956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TGPV_VERSION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12.4.0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Explicitely_Disclosed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308207498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DECL_IS_PROP_FLAG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Patent_Type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Normalized_Patent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80085710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LICD_DEC_PREP_TO_GRANT_FLAG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449226866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LICD_REC_CONDI_FLAG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163438145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858027933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DIPG_DISPLAY_NUMBER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5G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014743142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DIPG_EXTERNAL_ID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671309287"/>
                  </a:ext>
                </a:extLst>
              </a:tr>
              <a:tr h="74422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Standard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 136 300 (RTS/TSGR-0236300vc40) version 12.4.0 -- 3GPP TS 36.300 version 12.4.0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PBPA_APP_DATE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2013/5/14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1029751552"/>
                  </a:ext>
                </a:extLst>
              </a:tr>
              <a:tr h="18822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Ess_To_Standard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3983544272"/>
                  </a:ext>
                </a:extLst>
              </a:tr>
              <a:tr h="74422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WI_Type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ETPR_ACRONYM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3GPP-Release-12 | GSM Phase 2+ and UMTS/LTE/LTE-Advanced release 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548359037"/>
                  </a:ext>
                </a:extLst>
              </a:tr>
              <a:tr h="37355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WOIT_ETSI_DELIVERABLE_NUMBER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136 300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Ess_To_Project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ja-JP" sz="110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</a:t>
                      </a:r>
                      <a:endParaRPr lang="en-US" alt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610" marR="2610" marT="2610" marB="0" anchor="ctr"/>
                </a:tc>
                <a:extLst>
                  <a:ext uri="{0D108BD9-81ED-4DB2-BD59-A6C34878D82A}">
                    <a16:rowId xmlns:a16="http://schemas.microsoft.com/office/drawing/2014/main" val="2152206942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32419C-A84B-9E0C-D521-AC5B2369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u="sng" dirty="0">
                <a:hlinkClick r:id="rId2"/>
              </a:rPr>
              <a:t>IPR reporting data</a:t>
            </a:r>
            <a:r>
              <a:rPr lang="ja-JP" altLang="en-US" dirty="0"/>
              <a:t>における</a:t>
            </a:r>
            <a:r>
              <a:rPr kumimoji="1" lang="ja-JP" altLang="en-US" dirty="0"/>
              <a:t>各レコードの内容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E78CC3-B59C-752C-9C16-18A699B0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2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94477C-8079-99E6-D910-CDED2497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/>
              <a:t>IPR</a:t>
            </a:r>
            <a:r>
              <a:rPr kumimoji="1" lang="ja-JP" altLang="en-US"/>
              <a:t>宣言の番号（</a:t>
            </a:r>
            <a:r>
              <a:rPr kumimoji="1" lang="en-US" altLang="ja-JP"/>
              <a:t>IPRD_REFERENCE</a:t>
            </a:r>
            <a:r>
              <a:rPr kumimoji="1" lang="ja-JP" altLang="en-US"/>
              <a:t>）、特許文献の番号（</a:t>
            </a:r>
            <a:r>
              <a:rPr kumimoji="1" lang="en-US" altLang="ja-JP"/>
              <a:t>PUBL_NUMBER</a:t>
            </a:r>
            <a:r>
              <a:rPr kumimoji="1" lang="ja-JP" altLang="en-US"/>
              <a:t>）、優先権を主張している文献番号（</a:t>
            </a:r>
            <a:r>
              <a:rPr kumimoji="1" lang="en-US" altLang="ja-JP"/>
              <a:t>PBPA_PRIORITY_NUMBERS</a:t>
            </a:r>
            <a:r>
              <a:rPr kumimoji="1" lang="ja-JP" altLang="en-US"/>
              <a:t>）なども確認可能。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87AB5B-13EC-BBE4-032A-DD6755E77246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5757EB-8195-8675-A256-83F0E6F49212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62FE30F-2BBD-699C-524C-CE99702D6E49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4149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プレースホルダー 5">
            <a:extLst>
              <a:ext uri="{FF2B5EF4-FFF2-40B4-BE49-F238E27FC236}">
                <a16:creationId xmlns:a16="http://schemas.microsoft.com/office/drawing/2014/main" id="{A6448D29-50F7-59B3-3CD6-40062005418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19336447"/>
              </p:ext>
            </p:extLst>
          </p:nvPr>
        </p:nvGraphicFramePr>
        <p:xfrm>
          <a:off x="273000" y="720000"/>
          <a:ext cx="9360000" cy="5402631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4878066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9723932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03972164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54384079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906111083"/>
                    </a:ext>
                  </a:extLst>
                </a:gridCol>
              </a:tblGrid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1841802211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26288677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IPRD_SIGNATURE_DATE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2016-08-31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10538059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46837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769010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Patent_Type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Basis Patent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Family 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25678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US201314406757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1877304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US2015172963 A1 | US9344922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8258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0705743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 UNITED STATES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3729439784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PBPA_APP_DATE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2012-06-22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2013-05-14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2459328697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1299984061"/>
                  </a:ext>
                </a:extLst>
              </a:tr>
              <a:tr h="41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2895" marR="2895" marT="3185" marB="0" anchor="ctr"/>
                </a:tc>
                <a:extLst>
                  <a:ext uri="{0D108BD9-81ED-4DB2-BD59-A6C34878D82A}">
                    <a16:rowId xmlns:a16="http://schemas.microsoft.com/office/drawing/2014/main" val="299167690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B17C9FDB-E3F7-E6B0-AAAA-94337A53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6FC7C5-4A7C-BD2B-37FF-1F5CDADA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3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A1F5E1-4AB9-15F4-290F-DAAF2CFF5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DIPG_ID</a:t>
            </a:r>
            <a:r>
              <a:rPr kumimoji="1" lang="ja-JP" altLang="en-US" dirty="0"/>
              <a:t>（</a:t>
            </a:r>
            <a:r>
              <a:rPr kumimoji="1" lang="en-US" altLang="ja-JP" dirty="0"/>
              <a:t>IPR</a:t>
            </a:r>
            <a:r>
              <a:rPr kumimoji="1" lang="ja-JP" altLang="en-US" dirty="0"/>
              <a:t>データベースにおける開示特許グループの一意の数値識別子）を基準に、分析する。（宣言書の付属書における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つの開示「ブロック」に対応する。）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425D59-44D7-030B-C68E-47C4B95E1090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5573D9-F710-D1C3-C823-FD320A2F4D83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5BEE7A-B854-EE02-5219-215EBAE36583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982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2C00B06-C80D-92CC-0BE0-F3FC625E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>
            <a:normAutofit fontScale="90000"/>
          </a:bodyPr>
          <a:lstStyle/>
          <a:p>
            <a:r>
              <a:rPr lang="en-US" dirty="0"/>
              <a:t>IPR INFORMATION STATEMENT AND LICENSING DECLARATION</a:t>
            </a:r>
            <a:r>
              <a:rPr lang="ja-JP" altLang="en-US" dirty="0"/>
              <a:t>の内容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D72C1A-D288-5C23-67CF-F44012D0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8998BD-9759-42E8-BE15-7691A16D7AD5}" type="slidenum">
              <a:rPr lang="ja-JP" altLang="en-US" smtClean="0"/>
              <a:pPr>
                <a:spcAft>
                  <a:spcPts val="600"/>
                </a:spcAft>
              </a:pPr>
              <a:t>4</a:t>
            </a:fld>
            <a:endParaRPr lang="ja-JP" altLang="en-US"/>
          </a:p>
        </p:txBody>
      </p:sp>
      <p:pic>
        <p:nvPicPr>
          <p:cNvPr id="7" name="図プレースホルダー 6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DDFC5CD-F977-E136-DB07-6F5B4876DF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852" r="1852"/>
          <a:stretch/>
        </p:blipFill>
        <p:spPr>
          <a:xfrm>
            <a:off x="635" y="720000"/>
            <a:ext cx="9904730" cy="5400000"/>
          </a:xfrm>
          <a:prstGeom prst="rect">
            <a:avLst/>
          </a:prstGeom>
          <a:noFill/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38B50E5-7D86-1EA3-10C3-F1AA1DB7E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/>
          <a:lstStyle/>
          <a:p>
            <a:r>
              <a:rPr lang="en-US" altLang="ja-JP" dirty="0">
                <a:hlinkClick r:id="rId3"/>
              </a:rPr>
              <a:t>ISLD-201608-010</a:t>
            </a:r>
            <a:r>
              <a:rPr lang="ja-JP" altLang="en-US" dirty="0"/>
              <a:t>という宣言を実際に確認する。</a:t>
            </a:r>
            <a:endParaRPr lang="en-US" altLang="ja-JP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6F9F4C6-4E20-4B64-195B-73A14AC73C74}"/>
              </a:ext>
            </a:extLst>
          </p:cNvPr>
          <p:cNvSpPr/>
          <p:nvPr/>
        </p:nvSpPr>
        <p:spPr>
          <a:xfrm>
            <a:off x="7940675" y="2841625"/>
            <a:ext cx="803275" cy="14922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5F0589-C130-70FC-DADF-B3876255155F}"/>
              </a:ext>
            </a:extLst>
          </p:cNvPr>
          <p:cNvSpPr/>
          <p:nvPr/>
        </p:nvSpPr>
        <p:spPr>
          <a:xfrm>
            <a:off x="7927975" y="4052888"/>
            <a:ext cx="747713" cy="13017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4D609B-1EBA-3464-A40A-EEA7C391AFD6}"/>
              </a:ext>
            </a:extLst>
          </p:cNvPr>
          <p:cNvSpPr/>
          <p:nvPr/>
        </p:nvSpPr>
        <p:spPr>
          <a:xfrm>
            <a:off x="3831167" y="4034367"/>
            <a:ext cx="747713" cy="81915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CA01EB-D0B3-D9B9-D7E5-7C29AD637B70}"/>
              </a:ext>
            </a:extLst>
          </p:cNvPr>
          <p:cNvSpPr/>
          <p:nvPr/>
        </p:nvSpPr>
        <p:spPr>
          <a:xfrm>
            <a:off x="7927975" y="4409017"/>
            <a:ext cx="747713" cy="44450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E38BFB-637A-B11E-0C2E-6B2C3B11ECF8}"/>
              </a:ext>
            </a:extLst>
          </p:cNvPr>
          <p:cNvSpPr/>
          <p:nvPr/>
        </p:nvSpPr>
        <p:spPr>
          <a:xfrm>
            <a:off x="3081867" y="4034367"/>
            <a:ext cx="747713" cy="81915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9D58FAE-ACE1-AD1C-C560-5ACBDA5DD2ED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5CB19BB-E88D-EE0D-79F8-A97CBFC0B68D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E8A8FB1-7F3D-75A9-0E5B-5E29DE8B4022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919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FE33-5649-0940-6595-0DA4DA29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9A28947-BB4A-437F-6258-6B7AF27C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C2E558-1847-C7C7-854A-AB11931F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5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8448F-29C3-3909-E721-0452832F3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b" anchorCtr="0">
            <a:normAutofit/>
          </a:bodyPr>
          <a:lstStyle/>
          <a:p>
            <a:pPr algn="r"/>
            <a:r>
              <a:rPr kumimoji="1" lang="ja-JP" altLang="en-US" dirty="0"/>
              <a:t>次頁へ続く。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B5D950-F103-508D-2A8F-3C48ABE46182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0D51CA-7210-A05F-164F-29274575CF8B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302CC99-248D-5A0B-56B5-8AF8D13366CD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1" name="表プレースホルダー 10">
            <a:extLst>
              <a:ext uri="{FF2B5EF4-FFF2-40B4-BE49-F238E27FC236}">
                <a16:creationId xmlns:a16="http://schemas.microsoft.com/office/drawing/2014/main" id="{80B36165-D057-D859-D038-7F16D684745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30580189"/>
              </p:ext>
            </p:extLst>
          </p:nvPr>
        </p:nvGraphicFramePr>
        <p:xfrm>
          <a:off x="273001" y="728663"/>
          <a:ext cx="9360000" cy="5420080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040000">
                  <a:extLst>
                    <a:ext uri="{9D8B030D-6E8A-4147-A177-3AD203B41FA5}">
                      <a16:colId xmlns:a16="http://schemas.microsoft.com/office/drawing/2014/main" val="356181679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107243992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23508067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96398484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3022895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6279448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5910534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453123313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2616299716"/>
                    </a:ext>
                  </a:extLst>
                </a:gridCol>
              </a:tblGrid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4213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4301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4252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4252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4213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110313193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ISLD-201608-010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ISLD-201906-021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ISLD-201907-008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ISLD-201906-021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909093084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NTT DOCOMO INC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406793827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83279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90289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87420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87420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83279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15781806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JP20120140900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US201314406757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WO2013JP63391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CN2013832490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990715664"/>
                  </a:ext>
                </a:extLst>
              </a:tr>
              <a:tr h="626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JP2014007500 A | JP5758352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US2015172963 A1 | US9344922 B2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WO2013190929 A1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CN104396293 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492236363"/>
                  </a:ext>
                </a:extLst>
              </a:tr>
              <a:tr h="99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Radio communication system and base station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99637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|JP20120140900|WO2013JP63391|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693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JP JAPAN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 UNITED STATES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WO Patent Cooperation Treaty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CN CHINA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99491235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320876198"/>
                  </a:ext>
                </a:extLst>
              </a:tr>
              <a:tr h="750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Section 10.2.1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34687"/>
                  </a:ext>
                </a:extLst>
              </a:tr>
              <a:tr h="2534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u="none" strike="noStrike" dirty="0"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57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89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7379-DDBF-4972-2E44-D79C8B44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58A8475-CA60-3AF3-587E-0649CCF9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分析の基準を考える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066F4D-37CA-E42A-D87E-AA39FF2E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6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2EFEF5-71D1-52DF-1308-541BDAF82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DIPG_PATF_ID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 IPR </a:t>
            </a:r>
            <a:r>
              <a:rPr kumimoji="1" lang="ja-JP" altLang="en-US" dirty="0"/>
              <a:t>データベース内の開示の </a:t>
            </a:r>
            <a:r>
              <a:rPr kumimoji="1" lang="en-US" altLang="ja-JP" dirty="0"/>
              <a:t>ETSI </a:t>
            </a:r>
            <a:r>
              <a:rPr kumimoji="1" lang="ja-JP" altLang="en-US" dirty="0"/>
              <a:t>特許ファミリの一意の数値識別子</a:t>
            </a:r>
            <a:r>
              <a:rPr lang="ja-JP" altLang="en-US" dirty="0"/>
              <a:t>）</a:t>
            </a:r>
            <a:r>
              <a:rPr kumimoji="1" lang="ja-JP" altLang="en-US" dirty="0"/>
              <a:t>を基準に、分析する。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8F485D-B33E-50FA-F1A9-9C54D8DC762F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29C571-9EB1-6463-D85A-89F0EF11C3E3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ADA90C-525D-C289-7527-D4D85A1360EF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1" name="表プレースホルダー 10">
            <a:extLst>
              <a:ext uri="{FF2B5EF4-FFF2-40B4-BE49-F238E27FC236}">
                <a16:creationId xmlns:a16="http://schemas.microsoft.com/office/drawing/2014/main" id="{5E33A30E-1A72-44EE-C9CA-DDC86AF96E7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94256711"/>
              </p:ext>
            </p:extLst>
          </p:nvPr>
        </p:nvGraphicFramePr>
        <p:xfrm>
          <a:off x="273001" y="728663"/>
          <a:ext cx="9360000" cy="5428280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1040000">
                  <a:extLst>
                    <a:ext uri="{9D8B030D-6E8A-4147-A177-3AD203B41FA5}">
                      <a16:colId xmlns:a16="http://schemas.microsoft.com/office/drawing/2014/main" val="356181679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107243992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23508067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96398484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30228956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6279448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1959105349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3453123313"/>
                    </a:ext>
                  </a:extLst>
                </a:gridCol>
                <a:gridCol w="1040000">
                  <a:extLst>
                    <a:ext uri="{9D8B030D-6E8A-4147-A177-3AD203B41FA5}">
                      <a16:colId xmlns:a16="http://schemas.microsoft.com/office/drawing/2014/main" val="2616299716"/>
                    </a:ext>
                  </a:extLst>
                </a:gridCol>
              </a:tblGrid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2381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4252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4301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0313193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IPRD_REFERENCE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ISLD-201906-021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ISLD-201906-021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ISLD-201907-008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ISLD-201608-010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ISLD-201907-008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ISLD-201907-041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9093084"/>
                  </a:ext>
                </a:extLst>
              </a:tr>
              <a:tr h="3777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COMP_LEGAL_NAME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NTT DOCOMO INC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6793827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83279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83279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87420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43483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87420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90289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781806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PATT_APPLICATION_NUMBER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WO2013JP63391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WO2013JP63391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JP20120140900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US201314406757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CN2013832490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CN2013832490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0715664"/>
                  </a:ext>
                </a:extLst>
              </a:tr>
              <a:tr h="626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PUBL_NUMBER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WO2013190929 A1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WO2013190929 A1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JP2014007500 A | JP5758352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US2015172963 A1 | US9344922 B2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CN104396293 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CN104396293 A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2236363"/>
                  </a:ext>
                </a:extLst>
              </a:tr>
              <a:tr h="9994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PBPA_TITLEEN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Radio communication system and base station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99637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PBPA_PRIORITY_NUMBERS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|JP20120140900|WO2013JP63391|</a:t>
                      </a:r>
                    </a:p>
                  </a:txBody>
                  <a:tcPr marL="6350" marR="6350" marT="6350" marB="0" anchor="b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6939"/>
                  </a:ext>
                </a:extLst>
              </a:tr>
              <a:tr h="5021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Country_Of_Registration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 Patent Cooperation Treaty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WO Patent Cooperation Treaty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JP JAPAN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US UNITED STATES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 CHINA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CN CHINA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99491235"/>
                  </a:ext>
                </a:extLst>
              </a:tr>
              <a:tr h="169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ETPR_ID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876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1228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20876198"/>
                  </a:ext>
                </a:extLst>
              </a:tr>
              <a:tr h="750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Illustrative_Part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Section 4.9, 6.1.2.2, 6.1.3.2, 6.5, 7.6, 10.1.2.8.1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Section 10.2.1</a:t>
                      </a:r>
                    </a:p>
                  </a:txBody>
                  <a:tcPr marL="6350" marR="6350" marT="6350" marB="0" anchor="b"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34687"/>
                  </a:ext>
                </a:extLst>
              </a:tr>
              <a:tr h="2534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DIPG_PATF_ID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a:txBody>
                  <a:tcPr marL="4710" marR="4710" marT="4710" marB="0" anchor="b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20438</a:t>
                      </a:r>
                    </a:p>
                  </a:txBody>
                  <a:tcPr marL="6350" marR="6350" marT="6350" marB="0" anchor="b"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57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0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C4578-770F-FD3B-9F91-16E1E3D5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データベースの構造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78CC6B-A768-D364-76C0-A142AD37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7</a:t>
            </a:fld>
            <a:endParaRPr lang="ja-JP" altLang="en-US" sz="12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A4ED9C-EDEC-BE02-9773-454B1AADCD48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575198-7973-4ACF-7BE3-B8870DDDB440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535066-A56C-120C-B0D6-A2687517D017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D664AE9D-299C-B456-8F2F-A0807AB45A7B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 flipV="1">
            <a:off x="2481038" y="1880051"/>
            <a:ext cx="1571960" cy="168015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257E395-3059-FDCE-842D-79B48E3ACB4C}"/>
              </a:ext>
            </a:extLst>
          </p:cNvPr>
          <p:cNvCxnSpPr>
            <a:cxnSpLocks/>
            <a:stCxn id="76" idx="3"/>
            <a:endCxn id="87" idx="1"/>
          </p:cNvCxnSpPr>
          <p:nvPr/>
        </p:nvCxnSpPr>
        <p:spPr>
          <a:xfrm flipV="1">
            <a:off x="2481038" y="3120151"/>
            <a:ext cx="1571960" cy="4400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CB0E60E-12FF-87AF-8843-D01EAED7BCE2}"/>
              </a:ext>
            </a:extLst>
          </p:cNvPr>
          <p:cNvCxnSpPr>
            <a:cxnSpLocks/>
            <a:stCxn id="76" idx="3"/>
            <a:endCxn id="86" idx="1"/>
          </p:cNvCxnSpPr>
          <p:nvPr/>
        </p:nvCxnSpPr>
        <p:spPr>
          <a:xfrm>
            <a:off x="2481038" y="3560201"/>
            <a:ext cx="1571960" cy="8000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46625241-81B6-ADBE-2ED5-46D35EED443E}"/>
              </a:ext>
            </a:extLst>
          </p:cNvPr>
          <p:cNvCxnSpPr>
            <a:cxnSpLocks/>
            <a:stCxn id="76" idx="3"/>
            <a:endCxn id="82" idx="1"/>
          </p:cNvCxnSpPr>
          <p:nvPr/>
        </p:nvCxnSpPr>
        <p:spPr>
          <a:xfrm>
            <a:off x="2481038" y="3560201"/>
            <a:ext cx="1571960" cy="204015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B7EDF30D-8778-30FD-CB78-8EA62493035F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>
            <a:off x="5852999" y="1880051"/>
            <a:ext cx="1571963" cy="413366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981197E0-8997-34CB-46FA-6BB701D8B76D}"/>
              </a:ext>
            </a:extLst>
          </p:cNvPr>
          <p:cNvCxnSpPr>
            <a:cxnSpLocks/>
            <a:stCxn id="88" idx="3"/>
            <a:endCxn id="99" idx="1"/>
          </p:cNvCxnSpPr>
          <p:nvPr/>
        </p:nvCxnSpPr>
        <p:spPr>
          <a:xfrm>
            <a:off x="5852999" y="1880051"/>
            <a:ext cx="1571963" cy="206683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18A2551-DF65-E86A-D28F-1BF9AE32867E}"/>
              </a:ext>
            </a:extLst>
          </p:cNvPr>
          <p:cNvCxnSpPr>
            <a:cxnSpLocks/>
            <a:stCxn id="88" idx="3"/>
            <a:endCxn id="98" idx="1"/>
          </p:cNvCxnSpPr>
          <p:nvPr/>
        </p:nvCxnSpPr>
        <p:spPr>
          <a:xfrm>
            <a:off x="5852999" y="1880051"/>
            <a:ext cx="1571963" cy="372030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278E1F35-8D3C-2312-9608-58C74F981B52}"/>
              </a:ext>
            </a:extLst>
          </p:cNvPr>
          <p:cNvGrpSpPr/>
          <p:nvPr/>
        </p:nvGrpSpPr>
        <p:grpSpPr>
          <a:xfrm>
            <a:off x="7424960" y="720000"/>
            <a:ext cx="1800003" cy="5680403"/>
            <a:chOff x="6354680" y="812824"/>
            <a:chExt cx="1800003" cy="5680403"/>
          </a:xfrm>
        </p:grpSpPr>
        <p:pic>
          <p:nvPicPr>
            <p:cNvPr id="28" name="グラフィックス 27" descr="ドキュメント 枠線">
              <a:extLst>
                <a:ext uri="{FF2B5EF4-FFF2-40B4-BE49-F238E27FC236}">
                  <a16:creationId xmlns:a16="http://schemas.microsoft.com/office/drawing/2014/main" id="{2014FD83-E8BC-E3C5-88D4-F62581EDD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97482" y="1929041"/>
              <a:ext cx="914400" cy="914400"/>
            </a:xfrm>
            <a:prstGeom prst="rect">
              <a:avLst/>
            </a:prstGeom>
          </p:spPr>
        </p:pic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0552F3A1-4FB3-86DF-A2E0-72E0BE2F9F25}"/>
                </a:ext>
              </a:extLst>
            </p:cNvPr>
            <p:cNvSpPr/>
            <p:nvPr/>
          </p:nvSpPr>
          <p:spPr>
            <a:xfrm>
              <a:off x="6354682" y="2826291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JP20120140900</a:t>
              </a:r>
            </a:p>
          </p:txBody>
        </p:sp>
        <p:pic>
          <p:nvPicPr>
            <p:cNvPr id="32" name="グラフィックス 31" descr="ドキュメント 枠線">
              <a:extLst>
                <a:ext uri="{FF2B5EF4-FFF2-40B4-BE49-F238E27FC236}">
                  <a16:creationId xmlns:a16="http://schemas.microsoft.com/office/drawing/2014/main" id="{9B0C9844-5929-0C50-343E-1F84F2100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97482" y="3582508"/>
              <a:ext cx="914400" cy="914400"/>
            </a:xfrm>
            <a:prstGeom prst="rect">
              <a:avLst/>
            </a:prstGeom>
          </p:spPr>
        </p:pic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3183A7F1-1B4E-D007-D841-29EF71BB8CCB}"/>
                </a:ext>
              </a:extLst>
            </p:cNvPr>
            <p:cNvSpPr/>
            <p:nvPr/>
          </p:nvSpPr>
          <p:spPr>
            <a:xfrm>
              <a:off x="6354682" y="4479758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JP20120140900</a:t>
              </a:r>
            </a:p>
          </p:txBody>
        </p:sp>
        <p:pic>
          <p:nvPicPr>
            <p:cNvPr id="35" name="グラフィックス 34" descr="ドキュメント 枠線">
              <a:extLst>
                <a:ext uri="{FF2B5EF4-FFF2-40B4-BE49-F238E27FC236}">
                  <a16:creationId xmlns:a16="http://schemas.microsoft.com/office/drawing/2014/main" id="{48A5947A-7B7A-233C-1BFC-D24EECD0B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97482" y="5235976"/>
              <a:ext cx="914400" cy="914400"/>
            </a:xfrm>
            <a:prstGeom prst="rect">
              <a:avLst/>
            </a:prstGeom>
          </p:spPr>
        </p:pic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246D6FE5-83F9-F6B4-5D17-D8A6681F4C05}"/>
                </a:ext>
              </a:extLst>
            </p:cNvPr>
            <p:cNvSpPr/>
            <p:nvPr/>
          </p:nvSpPr>
          <p:spPr>
            <a:xfrm>
              <a:off x="6354682" y="6133226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JP20120140900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8637C34-A0FC-93D6-4E72-8F8BD4AAC5D7}"/>
                </a:ext>
              </a:extLst>
            </p:cNvPr>
            <p:cNvSpPr/>
            <p:nvPr/>
          </p:nvSpPr>
          <p:spPr>
            <a:xfrm>
              <a:off x="6354682" y="812824"/>
              <a:ext cx="1800000" cy="72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Family Member</a:t>
              </a:r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B5671B9F-1FBD-7E74-1403-128105AFBAEC}"/>
                </a:ext>
              </a:extLst>
            </p:cNvPr>
            <p:cNvSpPr/>
            <p:nvPr/>
          </p:nvSpPr>
          <p:spPr>
            <a:xfrm>
              <a:off x="6354682" y="812824"/>
              <a:ext cx="1800001" cy="5680403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127C97A8-E325-5560-A369-1D8D7A64D1D0}"/>
                </a:ext>
              </a:extLst>
            </p:cNvPr>
            <p:cNvSpPr/>
            <p:nvPr/>
          </p:nvSpPr>
          <p:spPr>
            <a:xfrm>
              <a:off x="6354682" y="5235976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0A2005BE-177A-2C17-0AC3-CA192ECA80F0}"/>
                </a:ext>
              </a:extLst>
            </p:cNvPr>
            <p:cNvSpPr/>
            <p:nvPr/>
          </p:nvSpPr>
          <p:spPr>
            <a:xfrm>
              <a:off x="6354682" y="3582508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CDD1E838-E055-3C3D-8A0C-12516686BB9C}"/>
                </a:ext>
              </a:extLst>
            </p:cNvPr>
            <p:cNvSpPr/>
            <p:nvPr/>
          </p:nvSpPr>
          <p:spPr>
            <a:xfrm>
              <a:off x="6354682" y="192904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AFDCA148-A0BC-3324-DF4B-2A98A8090278}"/>
                </a:ext>
              </a:extLst>
            </p:cNvPr>
            <p:cNvSpPr/>
            <p:nvPr/>
          </p:nvSpPr>
          <p:spPr>
            <a:xfrm>
              <a:off x="6354682" y="208144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64628A9B-D99C-883D-D905-E0C244523080}"/>
                </a:ext>
              </a:extLst>
            </p:cNvPr>
            <p:cNvSpPr/>
            <p:nvPr/>
          </p:nvSpPr>
          <p:spPr>
            <a:xfrm>
              <a:off x="6354680" y="1929041"/>
              <a:ext cx="1800000" cy="1257248"/>
            </a:xfrm>
            <a:prstGeom prst="rect">
              <a:avLst/>
            </a:prstGeom>
            <a:noFill/>
            <a:ln w="38100">
              <a:solidFill>
                <a:srgbClr val="FF9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01B41CF-DA70-0D27-EE4C-CBF76B835E42}"/>
              </a:ext>
            </a:extLst>
          </p:cNvPr>
          <p:cNvGrpSpPr/>
          <p:nvPr/>
        </p:nvGrpSpPr>
        <p:grpSpPr>
          <a:xfrm>
            <a:off x="4052998" y="720000"/>
            <a:ext cx="1800002" cy="5680403"/>
            <a:chOff x="4052998" y="720000"/>
            <a:chExt cx="1800002" cy="5680403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E8D679D-8E11-C278-F723-DFE6FB42E1DB}"/>
                </a:ext>
              </a:extLst>
            </p:cNvPr>
            <p:cNvSpPr/>
            <p:nvPr/>
          </p:nvSpPr>
          <p:spPr>
            <a:xfrm>
              <a:off x="4053000" y="720001"/>
              <a:ext cx="1800000" cy="72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Basis Patent</a:t>
              </a:r>
            </a:p>
          </p:txBody>
        </p:sp>
        <p:pic>
          <p:nvPicPr>
            <p:cNvPr id="11" name="グラフィックス 10" descr="ドキュメント 枠線">
              <a:extLst>
                <a:ext uri="{FF2B5EF4-FFF2-40B4-BE49-F238E27FC236}">
                  <a16:creationId xmlns:a16="http://schemas.microsoft.com/office/drawing/2014/main" id="{9800F26B-ACF2-A049-7400-7FC1A8432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5800" y="1422851"/>
              <a:ext cx="914400" cy="9144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32E11AF-4A69-C763-2E92-443703064A2B}"/>
                </a:ext>
              </a:extLst>
            </p:cNvPr>
            <p:cNvSpPr/>
            <p:nvPr/>
          </p:nvSpPr>
          <p:spPr>
            <a:xfrm>
              <a:off x="4053000" y="2320101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JP20120140900</a:t>
              </a:r>
            </a:p>
          </p:txBody>
        </p:sp>
        <p:pic>
          <p:nvPicPr>
            <p:cNvPr id="12" name="グラフィックス 11" descr="ドキュメント 枠線">
              <a:extLst>
                <a:ext uri="{FF2B5EF4-FFF2-40B4-BE49-F238E27FC236}">
                  <a16:creationId xmlns:a16="http://schemas.microsoft.com/office/drawing/2014/main" id="{15CB9596-FD02-175B-DD73-28F8A788E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5800" y="2662951"/>
              <a:ext cx="914400" cy="914400"/>
            </a:xfrm>
            <a:prstGeom prst="rect">
              <a:avLst/>
            </a:prstGeom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638AED0C-BB02-43C7-8D6C-D8B4479B5F69}"/>
                </a:ext>
              </a:extLst>
            </p:cNvPr>
            <p:cNvSpPr/>
            <p:nvPr/>
          </p:nvSpPr>
          <p:spPr>
            <a:xfrm>
              <a:off x="4053000" y="3560201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JP20120150810</a:t>
              </a:r>
            </a:p>
          </p:txBody>
        </p:sp>
        <p:pic>
          <p:nvPicPr>
            <p:cNvPr id="13" name="グラフィックス 12" descr="ドキュメント 枠線">
              <a:extLst>
                <a:ext uri="{FF2B5EF4-FFF2-40B4-BE49-F238E27FC236}">
                  <a16:creationId xmlns:a16="http://schemas.microsoft.com/office/drawing/2014/main" id="{6212B142-A62C-EE33-98D3-428C07DC9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5800" y="3903051"/>
              <a:ext cx="914400" cy="914400"/>
            </a:xfrm>
            <a:prstGeom prst="rect">
              <a:avLst/>
            </a:prstGeom>
          </p:spPr>
        </p:pic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0F5F352-468B-2A4B-BB63-66F5DEF6AF07}"/>
                </a:ext>
              </a:extLst>
            </p:cNvPr>
            <p:cNvSpPr/>
            <p:nvPr/>
          </p:nvSpPr>
          <p:spPr>
            <a:xfrm>
              <a:off x="4053000" y="4800301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JP20120140899</a:t>
              </a:r>
            </a:p>
          </p:txBody>
        </p:sp>
        <p:pic>
          <p:nvPicPr>
            <p:cNvPr id="14" name="グラフィックス 13" descr="ドキュメント 枠線">
              <a:extLst>
                <a:ext uri="{FF2B5EF4-FFF2-40B4-BE49-F238E27FC236}">
                  <a16:creationId xmlns:a16="http://schemas.microsoft.com/office/drawing/2014/main" id="{195DD619-375D-1EEA-DE82-DB0CC9D26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5800" y="5143151"/>
              <a:ext cx="914400" cy="914400"/>
            </a:xfrm>
            <a:prstGeom prst="rect">
              <a:avLst/>
            </a:prstGeom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CC9C628F-C0B6-D57E-00F1-CB28CB634DFF}"/>
                </a:ext>
              </a:extLst>
            </p:cNvPr>
            <p:cNvSpPr/>
            <p:nvPr/>
          </p:nvSpPr>
          <p:spPr>
            <a:xfrm>
              <a:off x="4053000" y="6040403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JP20120201344</a:t>
              </a:r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3DA693CE-F3F2-D284-B8BD-C223F77DD6EF}"/>
                </a:ext>
              </a:extLst>
            </p:cNvPr>
            <p:cNvSpPr/>
            <p:nvPr/>
          </p:nvSpPr>
          <p:spPr>
            <a:xfrm>
              <a:off x="4052998" y="514315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791A0BF3-90D3-225D-5FAC-6E188D646D9D}"/>
                </a:ext>
              </a:extLst>
            </p:cNvPr>
            <p:cNvSpPr/>
            <p:nvPr/>
          </p:nvSpPr>
          <p:spPr>
            <a:xfrm>
              <a:off x="4052998" y="390305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2ABFA939-FCE8-DFAD-38BF-D539E5140261}"/>
                </a:ext>
              </a:extLst>
            </p:cNvPr>
            <p:cNvSpPr/>
            <p:nvPr/>
          </p:nvSpPr>
          <p:spPr>
            <a:xfrm>
              <a:off x="4052998" y="266295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9399924-89C5-8C81-E1E3-5E71EBD61840}"/>
                </a:ext>
              </a:extLst>
            </p:cNvPr>
            <p:cNvSpPr/>
            <p:nvPr/>
          </p:nvSpPr>
          <p:spPr>
            <a:xfrm>
              <a:off x="4052998" y="1422851"/>
              <a:ext cx="1800001" cy="9144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63DB9167-A95D-92D0-562E-F535439E944D}"/>
                </a:ext>
              </a:extLst>
            </p:cNvPr>
            <p:cNvSpPr/>
            <p:nvPr/>
          </p:nvSpPr>
          <p:spPr>
            <a:xfrm>
              <a:off x="4052998" y="720000"/>
              <a:ext cx="1800001" cy="5680403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BD3D1CA-FD68-2579-A7E2-536C90FF72B2}"/>
                </a:ext>
              </a:extLst>
            </p:cNvPr>
            <p:cNvSpPr/>
            <p:nvPr/>
          </p:nvSpPr>
          <p:spPr>
            <a:xfrm>
              <a:off x="4052998" y="1422850"/>
              <a:ext cx="1800001" cy="1240099"/>
            </a:xfrm>
            <a:prstGeom prst="rect">
              <a:avLst/>
            </a:prstGeom>
            <a:noFill/>
            <a:ln w="38100">
              <a:solidFill>
                <a:srgbClr val="FF9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9C45850-AFD3-FCB4-177D-399521CB5D5E}"/>
              </a:ext>
            </a:extLst>
          </p:cNvPr>
          <p:cNvGrpSpPr/>
          <p:nvPr/>
        </p:nvGrpSpPr>
        <p:grpSpPr>
          <a:xfrm>
            <a:off x="681038" y="2441403"/>
            <a:ext cx="1800001" cy="2237597"/>
            <a:chOff x="681038" y="2441403"/>
            <a:chExt cx="1800001" cy="2237597"/>
          </a:xfrm>
        </p:grpSpPr>
        <p:pic>
          <p:nvPicPr>
            <p:cNvPr id="5" name="グラフィックス 4" descr="閉じた本 枠線">
              <a:extLst>
                <a:ext uri="{FF2B5EF4-FFF2-40B4-BE49-F238E27FC236}">
                  <a16:creationId xmlns:a16="http://schemas.microsoft.com/office/drawing/2014/main" id="{583B4D9A-B665-56B4-F9BE-5CA4D1DE3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1038" y="3200201"/>
              <a:ext cx="1080000" cy="1080000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1251D58-9A3E-34BB-5CC3-D4D9F651AC07}"/>
                </a:ext>
              </a:extLst>
            </p:cNvPr>
            <p:cNvSpPr/>
            <p:nvPr/>
          </p:nvSpPr>
          <p:spPr>
            <a:xfrm>
              <a:off x="681038" y="2441403"/>
              <a:ext cx="1800000" cy="72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LICENSING DECLARATION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C29F11B-2490-009B-02E6-EA007304DBC0}"/>
                </a:ext>
              </a:extLst>
            </p:cNvPr>
            <p:cNvSpPr/>
            <p:nvPr/>
          </p:nvSpPr>
          <p:spPr>
            <a:xfrm>
              <a:off x="681038" y="4319000"/>
              <a:ext cx="18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latin typeface="Segoe UI" panose="020B0502040204020203" pitchFamily="34" charset="0"/>
                  <a:ea typeface="メイリオ" panose="020B0604030504040204" pitchFamily="50" charset="-128"/>
                  <a:cs typeface="Segoe UI" panose="020B0502040204020203" pitchFamily="34" charset="0"/>
                </a:rPr>
                <a:t>ISLD-201608-010</a:t>
              </a:r>
              <a:endParaRPr kumimoji="1" lang="ja-JP" altLang="en-US" sz="1200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627C536C-A6A3-FE7D-79C5-5634D1D60ABC}"/>
                </a:ext>
              </a:extLst>
            </p:cNvPr>
            <p:cNvSpPr/>
            <p:nvPr/>
          </p:nvSpPr>
          <p:spPr>
            <a:xfrm>
              <a:off x="681038" y="2441403"/>
              <a:ext cx="1800000" cy="2237596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D097296-B500-D42C-A19A-E209A7DA6BFF}"/>
                </a:ext>
              </a:extLst>
            </p:cNvPr>
            <p:cNvSpPr/>
            <p:nvPr/>
          </p:nvSpPr>
          <p:spPr>
            <a:xfrm>
              <a:off x="681038" y="3161402"/>
              <a:ext cx="1800001" cy="1517597"/>
            </a:xfrm>
            <a:prstGeom prst="rect">
              <a:avLst/>
            </a:prstGeom>
            <a:noFill/>
            <a:ln w="38100">
              <a:solidFill>
                <a:srgbClr val="FF9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0D29EDA-60A0-AE58-6F4D-A2DECB344A63}"/>
              </a:ext>
            </a:extLst>
          </p:cNvPr>
          <p:cNvSpPr/>
          <p:nvPr/>
        </p:nvSpPr>
        <p:spPr>
          <a:xfrm>
            <a:off x="1221038" y="1021302"/>
            <a:ext cx="1980000" cy="54000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72000" rtlCol="0" anchor="ctr"/>
          <a:lstStyle/>
          <a:p>
            <a:pPr algn="ctr"/>
            <a:r>
              <a:rPr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レコード</a:t>
            </a:r>
            <a:r>
              <a:rPr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(1</a:t>
            </a:r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行分</a:t>
            </a:r>
            <a:r>
              <a:rPr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6C67914-1733-4C47-574B-59E6DF90A099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>
            <a:off x="2211038" y="1561302"/>
            <a:ext cx="1841960" cy="318749"/>
          </a:xfrm>
          <a:prstGeom prst="line">
            <a:avLst/>
          </a:prstGeom>
          <a:ln w="38100">
            <a:solidFill>
              <a:srgbClr val="FF9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54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D324F-394F-495D-D828-4062F068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093D46-FF3B-64FD-DC69-9D3EA61B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データベースの構造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A8F81C-5B98-02E3-1EA4-7A41E9CB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8</a:t>
            </a:fld>
            <a:endParaRPr lang="ja-JP" altLang="en-US" sz="12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8772C4-653A-944C-8971-604C0DA0A33C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0153548-CEC8-9354-56AF-7EF4665AE204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8" name="グラフィックス 27" descr="ドキュメント 枠線">
            <a:extLst>
              <a:ext uri="{FF2B5EF4-FFF2-40B4-BE49-F238E27FC236}">
                <a16:creationId xmlns:a16="http://schemas.microsoft.com/office/drawing/2014/main" id="{484B2E0A-A857-DA11-9770-D81D8FE27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74620" y="1104102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ドキュメント 枠線">
            <a:extLst>
              <a:ext uri="{FF2B5EF4-FFF2-40B4-BE49-F238E27FC236}">
                <a16:creationId xmlns:a16="http://schemas.microsoft.com/office/drawing/2014/main" id="{7CE18B98-8640-9253-4302-B4F76D967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837000" y="4239377"/>
            <a:ext cx="914400" cy="914400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19332BB-164B-F5DE-45AE-951D7E0D7EDF}"/>
              </a:ext>
            </a:extLst>
          </p:cNvPr>
          <p:cNvSpPr/>
          <p:nvPr/>
        </p:nvSpPr>
        <p:spPr>
          <a:xfrm>
            <a:off x="-1032096" y="71915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5713DBA-1A2F-0956-8F78-9FB6EFBF0DD7}"/>
              </a:ext>
            </a:extLst>
          </p:cNvPr>
          <p:cNvGrpSpPr/>
          <p:nvPr/>
        </p:nvGrpSpPr>
        <p:grpSpPr>
          <a:xfrm>
            <a:off x="12471856" y="3242850"/>
            <a:ext cx="914400" cy="1143000"/>
            <a:chOff x="10973256" y="3238350"/>
            <a:chExt cx="914400" cy="1143000"/>
          </a:xfrm>
        </p:grpSpPr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534A9500-7B4C-67EC-0E0C-2D4DD847D468}"/>
                </a:ext>
              </a:extLst>
            </p:cNvPr>
            <p:cNvSpPr/>
            <p:nvPr/>
          </p:nvSpPr>
          <p:spPr>
            <a:xfrm>
              <a:off x="10973256" y="3238350"/>
              <a:ext cx="914400" cy="567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D45DDF3-2663-2A6F-7462-508EF0695791}"/>
                </a:ext>
              </a:extLst>
            </p:cNvPr>
            <p:cNvSpPr/>
            <p:nvPr/>
          </p:nvSpPr>
          <p:spPr>
            <a:xfrm>
              <a:off x="10973256" y="3814350"/>
              <a:ext cx="914400" cy="567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C3294DA-1F40-4DA8-97B9-D5F9C0B3B3AE}"/>
              </a:ext>
            </a:extLst>
          </p:cNvPr>
          <p:cNvSpPr/>
          <p:nvPr/>
        </p:nvSpPr>
        <p:spPr>
          <a:xfrm>
            <a:off x="11305212" y="2970066"/>
            <a:ext cx="914400" cy="1367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F36B0E-023B-5DBE-1417-41D6D310BB54}"/>
              </a:ext>
            </a:extLst>
          </p:cNvPr>
          <p:cNvSpPr/>
          <p:nvPr/>
        </p:nvSpPr>
        <p:spPr>
          <a:xfrm>
            <a:off x="-3837000" y="1262950"/>
            <a:ext cx="9144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C2DB8EA-56BF-BD8A-474B-016E574188FE}"/>
              </a:ext>
            </a:extLst>
          </p:cNvPr>
          <p:cNvSpPr/>
          <p:nvPr/>
        </p:nvSpPr>
        <p:spPr>
          <a:xfrm>
            <a:off x="-3837000" y="301450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2CDC98A-BA31-1740-FB03-C00A1662A7F8}"/>
              </a:ext>
            </a:extLst>
          </p:cNvPr>
          <p:cNvSpPr/>
          <p:nvPr/>
        </p:nvSpPr>
        <p:spPr>
          <a:xfrm>
            <a:off x="-3837000" y="617390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3052D1E-6003-0B36-1CC3-855B27924CA8}"/>
              </a:ext>
            </a:extLst>
          </p:cNvPr>
          <p:cNvSpPr/>
          <p:nvPr/>
        </p:nvSpPr>
        <p:spPr>
          <a:xfrm>
            <a:off x="-3837000" y="317085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6D943A-0679-8069-504D-2D21B3F7CC7D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2020E8DD-6E66-0FE2-18A0-38B33E1609E3}"/>
              </a:ext>
            </a:extLst>
          </p:cNvPr>
          <p:cNvGrpSpPr/>
          <p:nvPr/>
        </p:nvGrpSpPr>
        <p:grpSpPr>
          <a:xfrm>
            <a:off x="484386" y="719150"/>
            <a:ext cx="9015292" cy="5958850"/>
            <a:chOff x="484386" y="719150"/>
            <a:chExt cx="9015292" cy="5958850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BEC1D9D-2F6C-4F83-732F-DF5C5AB03CFE}"/>
                </a:ext>
              </a:extLst>
            </p:cNvPr>
            <p:cNvSpPr/>
            <p:nvPr/>
          </p:nvSpPr>
          <p:spPr>
            <a:xfrm>
              <a:off x="8564020" y="2250066"/>
              <a:ext cx="920366" cy="7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100" u="sng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複数を</a:t>
              </a:r>
              <a:r>
                <a:rPr lang="en-US" altLang="ja-JP" sz="1100" u="sng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</a:t>
              </a:r>
              <a:r>
                <a:rPr lang="ja-JP" altLang="en-US" sz="1100" u="sng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つ</a:t>
              </a:r>
              <a:endParaRPr lang="en-US" altLang="ja-JP" sz="1100" u="sng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lang="ja-JP" altLang="en-US" sz="1100" u="sng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にしている場合もある</a:t>
              </a:r>
              <a:endParaRPr kumimoji="1" lang="ja-JP" altLang="en-US" sz="1100" u="sng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3EBF15C-5785-0E9F-6025-59E3B77D8997}"/>
                </a:ext>
              </a:extLst>
            </p:cNvPr>
            <p:cNvGrpSpPr/>
            <p:nvPr/>
          </p:nvGrpSpPr>
          <p:grpSpPr>
            <a:xfrm>
              <a:off x="484386" y="719150"/>
              <a:ext cx="9015292" cy="5958850"/>
              <a:chOff x="484386" y="719150"/>
              <a:chExt cx="9015292" cy="5958850"/>
            </a:xfrm>
          </p:grpSpPr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2866ADB3-D437-24A0-0778-41D9692B1EFC}"/>
                  </a:ext>
                </a:extLst>
              </p:cNvPr>
              <p:cNvGrpSpPr/>
              <p:nvPr/>
            </p:nvGrpSpPr>
            <p:grpSpPr>
              <a:xfrm>
                <a:off x="1352998" y="719150"/>
                <a:ext cx="7200002" cy="2250916"/>
                <a:chOff x="1352998" y="719150"/>
                <a:chExt cx="7200002" cy="2250916"/>
              </a:xfrm>
            </p:grpSpPr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AB11C5FB-36E7-38B1-1D52-1E97CBBFAB84}"/>
                    </a:ext>
                  </a:extLst>
                </p:cNvPr>
                <p:cNvGrpSpPr/>
                <p:nvPr/>
              </p:nvGrpSpPr>
              <p:grpSpPr>
                <a:xfrm>
                  <a:off x="1353000" y="1170066"/>
                  <a:ext cx="7200000" cy="1800000"/>
                  <a:chOff x="1379428" y="1422000"/>
                  <a:chExt cx="7200000" cy="1800000"/>
                </a:xfrm>
              </p:grpSpPr>
              <p:grpSp>
                <p:nvGrpSpPr>
                  <p:cNvPr id="75" name="グループ化 74">
                    <a:extLst>
                      <a:ext uri="{FF2B5EF4-FFF2-40B4-BE49-F238E27FC236}">
                        <a16:creationId xmlns:a16="http://schemas.microsoft.com/office/drawing/2014/main" id="{F4CAAECB-970C-EB73-C4BF-53BACC99EEDE}"/>
                      </a:ext>
                    </a:extLst>
                  </p:cNvPr>
                  <p:cNvGrpSpPr/>
                  <p:nvPr/>
                </p:nvGrpSpPr>
                <p:grpSpPr>
                  <a:xfrm>
                    <a:off x="6779427" y="1422000"/>
                    <a:ext cx="1800001" cy="1800000"/>
                    <a:chOff x="673502" y="2344451"/>
                    <a:chExt cx="1800001" cy="1800000"/>
                  </a:xfrm>
                </p:grpSpPr>
                <p:pic>
                  <p:nvPicPr>
                    <p:cNvPr id="77" name="グラフィックス 76" descr="閉じた本 枠線">
                      <a:extLst>
                        <a:ext uri="{FF2B5EF4-FFF2-40B4-BE49-F238E27FC236}">
                          <a16:creationId xmlns:a16="http://schemas.microsoft.com/office/drawing/2014/main" id="{2932F8BF-49FB-C342-736B-D033BD7A4C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33502" y="3064451"/>
                      <a:ext cx="1080000" cy="10800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78" name="正方形/長方形 77">
                      <a:extLst>
                        <a:ext uri="{FF2B5EF4-FFF2-40B4-BE49-F238E27FC236}">
                          <a16:creationId xmlns:a16="http://schemas.microsoft.com/office/drawing/2014/main" id="{0BC84DDD-D280-F650-9EA4-BEBB53CAA3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0" cy="720000"/>
                    </a:xfrm>
                    <a:prstGeom prst="rect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ja-JP" dirty="0"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LICENSING DECLARATION</a:t>
                      </a:r>
                    </a:p>
                  </p:txBody>
                </p:sp>
                <p:sp>
                  <p:nvSpPr>
                    <p:cNvPr id="79" name="正方形/長方形 78">
                      <a:extLst>
                        <a:ext uri="{FF2B5EF4-FFF2-40B4-BE49-F238E27FC236}">
                          <a16:creationId xmlns:a16="http://schemas.microsoft.com/office/drawing/2014/main" id="{AEBDCBF2-73EF-23DC-060E-E596893F0C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1" cy="180000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accent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p:txBody>
                </p:sp>
              </p:grpSp>
              <p:grpSp>
                <p:nvGrpSpPr>
                  <p:cNvPr id="94" name="グループ化 93">
                    <a:extLst>
                      <a:ext uri="{FF2B5EF4-FFF2-40B4-BE49-F238E27FC236}">
                        <a16:creationId xmlns:a16="http://schemas.microsoft.com/office/drawing/2014/main" id="{6CE3C475-0039-AF0F-6E31-7F4DA05F78B7}"/>
                      </a:ext>
                    </a:extLst>
                  </p:cNvPr>
                  <p:cNvGrpSpPr/>
                  <p:nvPr/>
                </p:nvGrpSpPr>
                <p:grpSpPr>
                  <a:xfrm>
                    <a:off x="1379428" y="1422000"/>
                    <a:ext cx="1800001" cy="1800000"/>
                    <a:chOff x="673502" y="2344451"/>
                    <a:chExt cx="1800001" cy="1800000"/>
                  </a:xfrm>
                </p:grpSpPr>
                <p:pic>
                  <p:nvPicPr>
                    <p:cNvPr id="95" name="グラフィックス 94" descr="閉じた本 枠線">
                      <a:extLst>
                        <a:ext uri="{FF2B5EF4-FFF2-40B4-BE49-F238E27FC236}">
                          <a16:creationId xmlns:a16="http://schemas.microsoft.com/office/drawing/2014/main" id="{5422F665-C6E4-EB32-A9FE-2D80527A0F4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33502" y="3064451"/>
                      <a:ext cx="1080000" cy="10800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6" name="正方形/長方形 95">
                      <a:extLst>
                        <a:ext uri="{FF2B5EF4-FFF2-40B4-BE49-F238E27FC236}">
                          <a16:creationId xmlns:a16="http://schemas.microsoft.com/office/drawing/2014/main" id="{05D0AD4A-AE91-B5DF-A25C-44D4FA74CE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0" cy="720000"/>
                    </a:xfrm>
                    <a:prstGeom prst="rect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ja-JP" dirty="0"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LICENSING DECLARATION</a:t>
                      </a:r>
                    </a:p>
                  </p:txBody>
                </p:sp>
                <p:sp>
                  <p:nvSpPr>
                    <p:cNvPr id="101" name="正方形/長方形 100">
                      <a:extLst>
                        <a:ext uri="{FF2B5EF4-FFF2-40B4-BE49-F238E27FC236}">
                          <a16:creationId xmlns:a16="http://schemas.microsoft.com/office/drawing/2014/main" id="{490FF402-E69D-3C58-EEC0-D99FB912D9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1" cy="180000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accent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p:txBody>
                </p:sp>
              </p:grpSp>
              <p:grpSp>
                <p:nvGrpSpPr>
                  <p:cNvPr id="130" name="グループ化 129">
                    <a:extLst>
                      <a:ext uri="{FF2B5EF4-FFF2-40B4-BE49-F238E27FC236}">
                        <a16:creationId xmlns:a16="http://schemas.microsoft.com/office/drawing/2014/main" id="{6882CA9F-8939-2D44-627B-3CB0F70FBA20}"/>
                      </a:ext>
                    </a:extLst>
                  </p:cNvPr>
                  <p:cNvGrpSpPr/>
                  <p:nvPr/>
                </p:nvGrpSpPr>
                <p:grpSpPr>
                  <a:xfrm>
                    <a:off x="4079428" y="1422000"/>
                    <a:ext cx="1800001" cy="1800000"/>
                    <a:chOff x="673502" y="2344451"/>
                    <a:chExt cx="1800001" cy="1800000"/>
                  </a:xfrm>
                </p:grpSpPr>
                <p:pic>
                  <p:nvPicPr>
                    <p:cNvPr id="131" name="グラフィックス 130" descr="閉じた本 枠線">
                      <a:extLst>
                        <a:ext uri="{FF2B5EF4-FFF2-40B4-BE49-F238E27FC236}">
                          <a16:creationId xmlns:a16="http://schemas.microsoft.com/office/drawing/2014/main" id="{A9837416-111B-690A-B5E5-1E33487CC0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33502" y="3064451"/>
                      <a:ext cx="1080000" cy="10800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2" name="正方形/長方形 131">
                      <a:extLst>
                        <a:ext uri="{FF2B5EF4-FFF2-40B4-BE49-F238E27FC236}">
                          <a16:creationId xmlns:a16="http://schemas.microsoft.com/office/drawing/2014/main" id="{B1009BE5-656B-99C7-2B3F-D2A1FDF188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0" cy="720000"/>
                    </a:xfrm>
                    <a:prstGeom prst="rect">
                      <a:avLst/>
                    </a:prstGeom>
                  </p:spPr>
                  <p:style>
                    <a:lnRef idx="3">
                      <a:schemeClr val="lt1"/>
                    </a:lnRef>
                    <a:fillRef idx="1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ja-JP" dirty="0">
                          <a:latin typeface="Segoe UI" panose="020B0502040204020203" pitchFamily="34" charset="0"/>
                          <a:ea typeface="メイリオ" panose="020B0604030504040204" pitchFamily="50" charset="-128"/>
                          <a:cs typeface="Segoe UI" panose="020B0502040204020203" pitchFamily="34" charset="0"/>
                        </a:rPr>
                        <a:t>LICENSING DECLARATION</a:t>
                      </a:r>
                    </a:p>
                  </p:txBody>
                </p:sp>
                <p:sp>
                  <p:nvSpPr>
                    <p:cNvPr id="133" name="正方形/長方形 132">
                      <a:extLst>
                        <a:ext uri="{FF2B5EF4-FFF2-40B4-BE49-F238E27FC236}">
                          <a16:creationId xmlns:a16="http://schemas.microsoft.com/office/drawing/2014/main" id="{2853E6AB-9B43-0340-D3B2-128CFCA13A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502" y="2344451"/>
                      <a:ext cx="1800001" cy="180000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accent4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p:txBody>
                </p:sp>
              </p:grpSp>
            </p:grpSp>
            <p:grpSp>
              <p:nvGrpSpPr>
                <p:cNvPr id="4" name="グループ化 3">
                  <a:extLst>
                    <a:ext uri="{FF2B5EF4-FFF2-40B4-BE49-F238E27FC236}">
                      <a16:creationId xmlns:a16="http://schemas.microsoft.com/office/drawing/2014/main" id="{3207F6E5-A716-F95C-139A-8F3A9F9663D0}"/>
                    </a:ext>
                  </a:extLst>
                </p:cNvPr>
                <p:cNvGrpSpPr/>
                <p:nvPr/>
              </p:nvGrpSpPr>
              <p:grpSpPr>
                <a:xfrm>
                  <a:off x="1352998" y="719150"/>
                  <a:ext cx="7200002" cy="360000"/>
                  <a:chOff x="1352998" y="899150"/>
                  <a:chExt cx="7200002" cy="36000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" name="正方形/長方形 4">
                        <a:extLst>
                          <a:ext uri="{FF2B5EF4-FFF2-40B4-BE49-F238E27FC236}">
                            <a16:creationId xmlns:a16="http://schemas.microsoft.com/office/drawing/2014/main" id="{2829BFE0-71D6-9915-5181-4BFA200B5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2998" y="89915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IPRD</m:t>
                                  </m:r>
                                  <m: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" name="正方形/長方形 4">
                        <a:extLst>
                          <a:ext uri="{FF2B5EF4-FFF2-40B4-BE49-F238E27FC236}">
                            <a16:creationId xmlns:a16="http://schemas.microsoft.com/office/drawing/2014/main" id="{2829BFE0-71D6-9915-5181-4BFA200B5F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52998" y="89915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正方形/長方形 5">
                        <a:extLst>
                          <a:ext uri="{FF2B5EF4-FFF2-40B4-BE49-F238E27FC236}">
                            <a16:creationId xmlns:a16="http://schemas.microsoft.com/office/drawing/2014/main" id="{F19B2197-2691-0F16-2CAE-8E2E617B69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52999" y="89915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IPRD</m:t>
                                  </m:r>
                                  <m: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正方形/長方形 5">
                        <a:extLst>
                          <a:ext uri="{FF2B5EF4-FFF2-40B4-BE49-F238E27FC236}">
                            <a16:creationId xmlns:a16="http://schemas.microsoft.com/office/drawing/2014/main" id="{F19B2197-2691-0F16-2CAE-8E2E617B69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2999" y="89915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正方形/長方形 11">
                        <a:extLst>
                          <a:ext uri="{FF2B5EF4-FFF2-40B4-BE49-F238E27FC236}">
                            <a16:creationId xmlns:a16="http://schemas.microsoft.com/office/drawing/2014/main" id="{23E32672-62E7-D5FB-1000-75EEE5AD5A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53000" y="89915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IPRD</m:t>
                                  </m:r>
                                  <m: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" name="正方形/長方形 11">
                        <a:extLst>
                          <a:ext uri="{FF2B5EF4-FFF2-40B4-BE49-F238E27FC236}">
                            <a16:creationId xmlns:a16="http://schemas.microsoft.com/office/drawing/2014/main" id="{23E32672-62E7-D5FB-1000-75EEE5AD5AC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53000" y="89915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8491DEB7-31F4-22AF-2BA7-35EB88123122}"/>
                  </a:ext>
                </a:extLst>
              </p:cNvPr>
              <p:cNvGrpSpPr/>
              <p:nvPr/>
            </p:nvGrpSpPr>
            <p:grpSpPr>
              <a:xfrm>
                <a:off x="484386" y="4338000"/>
                <a:ext cx="9015292" cy="2340000"/>
                <a:chOff x="484386" y="4338000"/>
                <a:chExt cx="9015292" cy="2340000"/>
              </a:xfrm>
            </p:grpSpPr>
            <p:grpSp>
              <p:nvGrpSpPr>
                <p:cNvPr id="93" name="グループ化 92">
                  <a:extLst>
                    <a:ext uri="{FF2B5EF4-FFF2-40B4-BE49-F238E27FC236}">
                      <a16:creationId xmlns:a16="http://schemas.microsoft.com/office/drawing/2014/main" id="{243BDD04-0577-9564-7881-C5912F6CDB98}"/>
                    </a:ext>
                  </a:extLst>
                </p:cNvPr>
                <p:cNvGrpSpPr/>
                <p:nvPr/>
              </p:nvGrpSpPr>
              <p:grpSpPr>
                <a:xfrm>
                  <a:off x="28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89" name="正方形/長方形 88">
                    <a:extLst>
                      <a:ext uri="{FF2B5EF4-FFF2-40B4-BE49-F238E27FC236}">
                        <a16:creationId xmlns:a16="http://schemas.microsoft.com/office/drawing/2014/main" id="{A553A866-66EF-D1E6-567A-2F4D56AD2DA7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90" name="正方形/長方形 89">
                    <a:extLst>
                      <a:ext uri="{FF2B5EF4-FFF2-40B4-BE49-F238E27FC236}">
                        <a16:creationId xmlns:a16="http://schemas.microsoft.com/office/drawing/2014/main" id="{D895F6AE-9A2C-F146-B4C9-A82DC7D03D57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92" name="グラフィックス 91" descr="ドキュメント 枠線">
                    <a:extLst>
                      <a:ext uri="{FF2B5EF4-FFF2-40B4-BE49-F238E27FC236}">
                        <a16:creationId xmlns:a16="http://schemas.microsoft.com/office/drawing/2014/main" id="{EA9F49BB-CAEB-4708-3EA1-81ECE3A36A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2" name="グループ化 101">
                  <a:extLst>
                    <a:ext uri="{FF2B5EF4-FFF2-40B4-BE49-F238E27FC236}">
                      <a16:creationId xmlns:a16="http://schemas.microsoft.com/office/drawing/2014/main" id="{9CF7E927-3121-9DE9-AEE2-B70AA578FEB1}"/>
                    </a:ext>
                  </a:extLst>
                </p:cNvPr>
                <p:cNvGrpSpPr/>
                <p:nvPr/>
              </p:nvGrpSpPr>
              <p:grpSpPr>
                <a:xfrm>
                  <a:off x="52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79DF1DA4-F34A-A04B-FB8D-0CEC7651BDA4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07" name="正方形/長方形 106">
                    <a:extLst>
                      <a:ext uri="{FF2B5EF4-FFF2-40B4-BE49-F238E27FC236}">
                        <a16:creationId xmlns:a16="http://schemas.microsoft.com/office/drawing/2014/main" id="{116BCB82-9CD0-A758-38F5-E543FFC5604E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08" name="グラフィックス 107" descr="ドキュメント 枠線">
                    <a:extLst>
                      <a:ext uri="{FF2B5EF4-FFF2-40B4-BE49-F238E27FC236}">
                        <a16:creationId xmlns:a16="http://schemas.microsoft.com/office/drawing/2014/main" id="{D932DF5B-B4FF-A915-50E6-9178686E8B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グループ化 108">
                  <a:extLst>
                    <a:ext uri="{FF2B5EF4-FFF2-40B4-BE49-F238E27FC236}">
                      <a16:creationId xmlns:a16="http://schemas.microsoft.com/office/drawing/2014/main" id="{40BFF303-1571-4F35-3776-11128382F40E}"/>
                    </a:ext>
                  </a:extLst>
                </p:cNvPr>
                <p:cNvGrpSpPr/>
                <p:nvPr/>
              </p:nvGrpSpPr>
              <p:grpSpPr>
                <a:xfrm>
                  <a:off x="4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10" name="正方形/長方形 109">
                    <a:extLst>
                      <a:ext uri="{FF2B5EF4-FFF2-40B4-BE49-F238E27FC236}">
                        <a16:creationId xmlns:a16="http://schemas.microsoft.com/office/drawing/2014/main" id="{EE36AAA2-FC22-391A-4921-A47B0B1E3C72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11" name="正方形/長方形 110">
                    <a:extLst>
                      <a:ext uri="{FF2B5EF4-FFF2-40B4-BE49-F238E27FC236}">
                        <a16:creationId xmlns:a16="http://schemas.microsoft.com/office/drawing/2014/main" id="{73A243C7-83BB-4B24-0CC2-6FBBA72EC8D7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12" name="グラフィックス 111" descr="ドキュメント 枠線">
                    <a:extLst>
                      <a:ext uri="{FF2B5EF4-FFF2-40B4-BE49-F238E27FC236}">
                        <a16:creationId xmlns:a16="http://schemas.microsoft.com/office/drawing/2014/main" id="{ECDC21CC-A574-CDC5-8437-BBF9C8E9A9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6" name="グループ化 125">
                  <a:extLst>
                    <a:ext uri="{FF2B5EF4-FFF2-40B4-BE49-F238E27FC236}">
                      <a16:creationId xmlns:a16="http://schemas.microsoft.com/office/drawing/2014/main" id="{3D3CBA2F-50D0-271A-C061-0BAEE0DDF271}"/>
                    </a:ext>
                  </a:extLst>
                </p:cNvPr>
                <p:cNvGrpSpPr/>
                <p:nvPr/>
              </p:nvGrpSpPr>
              <p:grpSpPr>
                <a:xfrm>
                  <a:off x="7684385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27" name="正方形/長方形 126">
                    <a:extLst>
                      <a:ext uri="{FF2B5EF4-FFF2-40B4-BE49-F238E27FC236}">
                        <a16:creationId xmlns:a16="http://schemas.microsoft.com/office/drawing/2014/main" id="{DF3DC5B6-10DD-2AB9-F21C-33358EE62010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28" name="正方形/長方形 127">
                    <a:extLst>
                      <a:ext uri="{FF2B5EF4-FFF2-40B4-BE49-F238E27FC236}">
                        <a16:creationId xmlns:a16="http://schemas.microsoft.com/office/drawing/2014/main" id="{67C1BB03-76C1-AEBD-A085-1D146CD8DF63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29" name="グラフィックス 128" descr="ドキュメント 枠線">
                    <a:extLst>
                      <a:ext uri="{FF2B5EF4-FFF2-40B4-BE49-F238E27FC236}">
                        <a16:creationId xmlns:a16="http://schemas.microsoft.com/office/drawing/2014/main" id="{1CD16C79-38D2-9F7F-B742-094F4CDFCB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" name="グループ化 43">
                  <a:extLst>
                    <a:ext uri="{FF2B5EF4-FFF2-40B4-BE49-F238E27FC236}">
                      <a16:creationId xmlns:a16="http://schemas.microsoft.com/office/drawing/2014/main" id="{6278881F-C8B2-D9A6-A27B-DE9A0A20C9CC}"/>
                    </a:ext>
                  </a:extLst>
                </p:cNvPr>
                <p:cNvGrpSpPr/>
                <p:nvPr/>
              </p:nvGrpSpPr>
              <p:grpSpPr>
                <a:xfrm>
                  <a:off x="525123" y="6318000"/>
                  <a:ext cx="8974555" cy="360000"/>
                  <a:chOff x="525123" y="6318000"/>
                  <a:chExt cx="8974555" cy="36000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" name="正方形/長方形 12">
                        <a:extLst>
                          <a:ext uri="{FF2B5EF4-FFF2-40B4-BE49-F238E27FC236}">
                            <a16:creationId xmlns:a16="http://schemas.microsoft.com/office/drawing/2014/main" id="{677BA652-424D-8561-62C2-D65348825B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5123" y="631800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DIPG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PATF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" name="正方形/長方形 12">
                        <a:extLst>
                          <a:ext uri="{FF2B5EF4-FFF2-40B4-BE49-F238E27FC236}">
                            <a16:creationId xmlns:a16="http://schemas.microsoft.com/office/drawing/2014/main" id="{677BA652-424D-8561-62C2-D65348825B4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5123" y="631800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4407"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正方形/長方形 13">
                        <a:extLst>
                          <a:ext uri="{FF2B5EF4-FFF2-40B4-BE49-F238E27FC236}">
                            <a16:creationId xmlns:a16="http://schemas.microsoft.com/office/drawing/2014/main" id="{8CB95F3A-1250-38A0-E787-DCD1FCDCE1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641" y="631800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DIPG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PATF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正方形/長方形 13">
                        <a:extLst>
                          <a:ext uri="{FF2B5EF4-FFF2-40B4-BE49-F238E27FC236}">
                            <a16:creationId xmlns:a16="http://schemas.microsoft.com/office/drawing/2014/main" id="{8CB95F3A-1250-38A0-E787-DCD1FCDCE10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16641" y="631800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4392"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正方形/長方形 14">
                        <a:extLst>
                          <a:ext uri="{FF2B5EF4-FFF2-40B4-BE49-F238E27FC236}">
                            <a16:creationId xmlns:a16="http://schemas.microsoft.com/office/drawing/2014/main" id="{9DEBD0BC-CCF3-E163-5C26-31585C475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08159" y="631800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DIPG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PATF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正方形/長方形 14">
                        <a:extLst>
                          <a:ext uri="{FF2B5EF4-FFF2-40B4-BE49-F238E27FC236}">
                            <a16:creationId xmlns:a16="http://schemas.microsoft.com/office/drawing/2014/main" id="{9DEBD0BC-CCF3-E163-5C26-31585C475B3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08159" y="631800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4407"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正方形/長方形 18">
                        <a:extLst>
                          <a:ext uri="{FF2B5EF4-FFF2-40B4-BE49-F238E27FC236}">
                            <a16:creationId xmlns:a16="http://schemas.microsoft.com/office/drawing/2014/main" id="{4F478F4D-D90D-E275-845E-472919041D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99678" y="6318000"/>
                        <a:ext cx="1800000" cy="360000"/>
                      </a:xfrm>
                      <a:prstGeom prst="rect">
                        <a:avLst/>
                      </a:prstGeom>
                      <a:ln w="38100">
                        <a:noFill/>
                      </a:ln>
                    </p:spPr>
                    <p:style>
                      <a:lnRef idx="2">
                        <a:schemeClr val="accent4"/>
                      </a:lnRef>
                      <a:fillRef idx="1">
                        <a:schemeClr val="lt1"/>
                      </a:fillRef>
                      <a:effectRef idx="0">
                        <a:schemeClr val="accent4"/>
                      </a:effectRef>
                      <a:fontRef idx="minor">
                        <a:schemeClr val="dk1"/>
                      </a:fontRef>
                    </p:style>
                    <p:txBody>
                      <a:bodyPr tIns="72000"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00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DIPG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PATF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_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2000" i="1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ID</m:t>
                                  </m:r>
                                </m:e>
                                <m:sub>
                                  <m:r>
                                    <a:rPr lang="en-US" altLang="ja-JP" sz="2000" b="0" i="0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ja-JP" altLang="en-US" sz="28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Segoe UI" panose="020B0502040204020203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正方形/長方形 18">
                        <a:extLst>
                          <a:ext uri="{FF2B5EF4-FFF2-40B4-BE49-F238E27FC236}">
                            <a16:creationId xmlns:a16="http://schemas.microsoft.com/office/drawing/2014/main" id="{4F478F4D-D90D-E275-845E-472919041DA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99678" y="6318000"/>
                        <a:ext cx="1800000" cy="36000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4407" b="-5085"/>
                        </a:stretch>
                      </a:blipFill>
                      <a:ln w="381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804ABBD7-5BDE-4C2D-94B5-0999587DEE8E}"/>
                  </a:ext>
                </a:extLst>
              </p:cNvPr>
              <p:cNvGrpSpPr/>
              <p:nvPr/>
            </p:nvGrpSpPr>
            <p:grpSpPr>
              <a:xfrm>
                <a:off x="1119747" y="2970066"/>
                <a:ext cx="8033251" cy="1367934"/>
                <a:chOff x="1119747" y="2970066"/>
                <a:chExt cx="8033251" cy="1367934"/>
              </a:xfrm>
            </p:grpSpPr>
            <p:cxnSp>
              <p:nvCxnSpPr>
                <p:cNvPr id="144" name="直線コネクタ 143">
                  <a:extLst>
                    <a:ext uri="{FF2B5EF4-FFF2-40B4-BE49-F238E27FC236}">
                      <a16:creationId xmlns:a16="http://schemas.microsoft.com/office/drawing/2014/main" id="{4CA3D1EE-2DF7-5CC5-7B31-15805EA59D01}"/>
                    </a:ext>
                  </a:extLst>
                </p:cNvPr>
                <p:cNvCxnSpPr>
                  <a:stCxn id="101" idx="2"/>
                  <a:endCxn id="111" idx="0"/>
                </p:cNvCxnSpPr>
                <p:nvPr/>
              </p:nvCxnSpPr>
              <p:spPr>
                <a:xfrm flipH="1">
                  <a:off x="1384387" y="2970066"/>
                  <a:ext cx="868614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線コネクタ 144">
                  <a:extLst>
                    <a:ext uri="{FF2B5EF4-FFF2-40B4-BE49-F238E27FC236}">
                      <a16:creationId xmlns:a16="http://schemas.microsoft.com/office/drawing/2014/main" id="{F21B3F86-5307-DEEF-2948-9D923CB20F6C}"/>
                    </a:ext>
                  </a:extLst>
                </p:cNvPr>
                <p:cNvCxnSpPr>
                  <a:cxnSpLocks/>
                  <a:stCxn id="101" idx="2"/>
                  <a:endCxn id="90" idx="0"/>
                </p:cNvCxnSpPr>
                <p:nvPr/>
              </p:nvCxnSpPr>
              <p:spPr>
                <a:xfrm>
                  <a:off x="2253001" y="2970066"/>
                  <a:ext cx="1531386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線コネクタ 148">
                  <a:extLst>
                    <a:ext uri="{FF2B5EF4-FFF2-40B4-BE49-F238E27FC236}">
                      <a16:creationId xmlns:a16="http://schemas.microsoft.com/office/drawing/2014/main" id="{8D4847DB-9143-DC10-4B84-C9F5F8055334}"/>
                    </a:ext>
                  </a:extLst>
                </p:cNvPr>
                <p:cNvCxnSpPr>
                  <a:cxnSpLocks/>
                  <a:stCxn id="133" idx="2"/>
                  <a:endCxn id="90" idx="0"/>
                </p:cNvCxnSpPr>
                <p:nvPr/>
              </p:nvCxnSpPr>
              <p:spPr>
                <a:xfrm flipH="1">
                  <a:off x="3784387" y="2970066"/>
                  <a:ext cx="1168614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線コネクタ 150">
                  <a:extLst>
                    <a:ext uri="{FF2B5EF4-FFF2-40B4-BE49-F238E27FC236}">
                      <a16:creationId xmlns:a16="http://schemas.microsoft.com/office/drawing/2014/main" id="{AADBDF14-9022-540D-C7D7-48B2DF21DF4A}"/>
                    </a:ext>
                  </a:extLst>
                </p:cNvPr>
                <p:cNvCxnSpPr>
                  <a:cxnSpLocks/>
                  <a:stCxn id="79" idx="2"/>
                  <a:endCxn id="107" idx="0"/>
                </p:cNvCxnSpPr>
                <p:nvPr/>
              </p:nvCxnSpPr>
              <p:spPr>
                <a:xfrm flipH="1">
                  <a:off x="6184387" y="2970066"/>
                  <a:ext cx="1468613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線コネクタ 154">
                  <a:extLst>
                    <a:ext uri="{FF2B5EF4-FFF2-40B4-BE49-F238E27FC236}">
                      <a16:creationId xmlns:a16="http://schemas.microsoft.com/office/drawing/2014/main" id="{043C7790-9C73-7821-0C80-65FD185BD7FA}"/>
                    </a:ext>
                  </a:extLst>
                </p:cNvPr>
                <p:cNvCxnSpPr>
                  <a:cxnSpLocks/>
                  <a:stCxn id="128" idx="0"/>
                  <a:endCxn id="79" idx="2"/>
                </p:cNvCxnSpPr>
                <p:nvPr/>
              </p:nvCxnSpPr>
              <p:spPr>
                <a:xfrm flipH="1" flipV="1">
                  <a:off x="7653000" y="2970066"/>
                  <a:ext cx="931386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線コネクタ 159">
                  <a:extLst>
                    <a:ext uri="{FF2B5EF4-FFF2-40B4-BE49-F238E27FC236}">
                      <a16:creationId xmlns:a16="http://schemas.microsoft.com/office/drawing/2014/main" id="{75A622E7-7BFA-B727-F811-CEB5FD4835D0}"/>
                    </a:ext>
                  </a:extLst>
                </p:cNvPr>
                <p:cNvCxnSpPr>
                  <a:cxnSpLocks/>
                  <a:stCxn id="79" idx="2"/>
                  <a:endCxn id="90" idx="0"/>
                </p:cNvCxnSpPr>
                <p:nvPr/>
              </p:nvCxnSpPr>
              <p:spPr>
                <a:xfrm flipH="1">
                  <a:off x="3784387" y="2970066"/>
                  <a:ext cx="3868613" cy="1367934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正方形/長方形 26">
                      <a:extLst>
                        <a:ext uri="{FF2B5EF4-FFF2-40B4-BE49-F238E27FC236}">
                          <a16:creationId xmlns:a16="http://schemas.microsoft.com/office/drawing/2014/main" id="{9FC4E337-F866-6F3D-07FB-EB37DDC23F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747" y="3816000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正方形/長方形 26">
                      <a:extLst>
                        <a:ext uri="{FF2B5EF4-FFF2-40B4-BE49-F238E27FC236}">
                          <a16:creationId xmlns:a16="http://schemas.microsoft.com/office/drawing/2014/main" id="{9FC4E337-F866-6F3D-07FB-EB37DDC23F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9747" y="3816000"/>
                      <a:ext cx="1190083" cy="360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3590" b="-5085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正方形/長方形 28">
                      <a:extLst>
                        <a:ext uri="{FF2B5EF4-FFF2-40B4-BE49-F238E27FC236}">
                          <a16:creationId xmlns:a16="http://schemas.microsoft.com/office/drawing/2014/main" id="{CC504047-65E0-ABEC-F034-DAA8A389C1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3651" y="3474033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正方形/長方形 28">
                      <a:extLst>
                        <a:ext uri="{FF2B5EF4-FFF2-40B4-BE49-F238E27FC236}">
                          <a16:creationId xmlns:a16="http://schemas.microsoft.com/office/drawing/2014/main" id="{CC504047-65E0-ABEC-F034-DAA8A389C1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23651" y="3474033"/>
                      <a:ext cx="1190083" cy="36000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3590" b="-5085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正方形/長方形 29">
                      <a:extLst>
                        <a:ext uri="{FF2B5EF4-FFF2-40B4-BE49-F238E27FC236}">
                          <a16:creationId xmlns:a16="http://schemas.microsoft.com/office/drawing/2014/main" id="{4C9B2D61-DB92-AB4A-D602-9B5E92920A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3284" y="3132066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正方形/長方形 29">
                      <a:extLst>
                        <a:ext uri="{FF2B5EF4-FFF2-40B4-BE49-F238E27FC236}">
                          <a16:creationId xmlns:a16="http://schemas.microsoft.com/office/drawing/2014/main" id="{4C9B2D61-DB92-AB4A-D602-9B5E92920AD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3284" y="3132066"/>
                      <a:ext cx="1190083" cy="36000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590" b="-3390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正方形/長方形 30">
                      <a:extLst>
                        <a:ext uri="{FF2B5EF4-FFF2-40B4-BE49-F238E27FC236}">
                          <a16:creationId xmlns:a16="http://schemas.microsoft.com/office/drawing/2014/main" id="{122684E2-8122-DF49-72AC-6F9698783E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3652" y="3816000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正方形/長方形 30">
                      <a:extLst>
                        <a:ext uri="{FF2B5EF4-FFF2-40B4-BE49-F238E27FC236}">
                          <a16:creationId xmlns:a16="http://schemas.microsoft.com/office/drawing/2014/main" id="{122684E2-8122-DF49-72AC-6F9698783EC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03652" y="3816000"/>
                      <a:ext cx="1190083" cy="36000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3571" b="-5085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正方形/長方形 39">
                      <a:extLst>
                        <a:ext uri="{FF2B5EF4-FFF2-40B4-BE49-F238E27FC236}">
                          <a16:creationId xmlns:a16="http://schemas.microsoft.com/office/drawing/2014/main" id="{0030A8A0-3149-2A75-D40E-57A9605F21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89345" y="3474033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u="sng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u="sng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5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u="sng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正方形/長方形 39">
                      <a:extLst>
                        <a:ext uri="{FF2B5EF4-FFF2-40B4-BE49-F238E27FC236}">
                          <a16:creationId xmlns:a16="http://schemas.microsoft.com/office/drawing/2014/main" id="{0030A8A0-3149-2A75-D40E-57A9605F21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89345" y="3474033"/>
                      <a:ext cx="1190083" cy="36000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4103" b="-5085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正方形/長方形 40">
                      <a:extLst>
                        <a:ext uri="{FF2B5EF4-FFF2-40B4-BE49-F238E27FC236}">
                          <a16:creationId xmlns:a16="http://schemas.microsoft.com/office/drawing/2014/main" id="{0E9AC1B6-2FAA-045E-4A4E-247F8AF8F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2915" y="3474033"/>
                      <a:ext cx="1190083" cy="360000"/>
                    </a:xfrm>
                    <a:prstGeom prst="rect">
                      <a:avLst/>
                    </a:prstGeom>
                    <a:ln w="38100">
                      <a:noFill/>
                    </a:ln>
                  </p:spPr>
                  <p:style>
                    <a:lnRef idx="2">
                      <a:schemeClr val="accent4"/>
                    </a:lnRef>
                    <a:fillRef idx="1">
                      <a:schemeClr val="lt1"/>
                    </a:fillRef>
                    <a:effectRef idx="0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tIns="7200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000" i="1" u="sng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DIPG</m:t>
                                </m:r>
                                <m: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000" i="0" u="sng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ID</m:t>
                                </m:r>
                              </m:e>
                              <m:sub>
                                <m:r>
                                  <a:rPr lang="en-US" altLang="ja-JP" sz="2000" b="0" i="0" u="sng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5</m:t>
                                </m:r>
                              </m:sub>
                            </m:sSub>
                          </m:oMath>
                        </m:oMathPara>
                      </a14:m>
                      <a:endParaRPr lang="ja-JP" altLang="en-US" sz="2800" u="sng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正方形/長方形 40">
                      <a:extLst>
                        <a:ext uri="{FF2B5EF4-FFF2-40B4-BE49-F238E27FC236}">
                          <a16:creationId xmlns:a16="http://schemas.microsoft.com/office/drawing/2014/main" id="{0E9AC1B6-2FAA-045E-4A4E-247F8AF8FF2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62915" y="3474033"/>
                      <a:ext cx="1190083" cy="36000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3590" b="-5085"/>
                      </a:stretch>
                    </a:blipFill>
                    <a:ln w="381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0ADBB5E-78B2-D0B0-6E75-6DAE3C45FE54}"/>
              </a:ext>
            </a:extLst>
          </p:cNvPr>
          <p:cNvSpPr/>
          <p:nvPr/>
        </p:nvSpPr>
        <p:spPr>
          <a:xfrm>
            <a:off x="10453718" y="3654000"/>
            <a:ext cx="9144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8CCE067-3BB8-BF63-327B-B818011BA203}"/>
              </a:ext>
            </a:extLst>
          </p:cNvPr>
          <p:cNvSpPr/>
          <p:nvPr/>
        </p:nvSpPr>
        <p:spPr>
          <a:xfrm>
            <a:off x="10453718" y="2970066"/>
            <a:ext cx="9144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23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7814-E9E4-930A-A375-2E02F2B5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04B21-F424-4A84-D528-01A3C61F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データベースの構造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57AAD8-EDE5-AD8F-3AA9-CA378EE6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9</a:t>
            </a:fld>
            <a:endParaRPr lang="ja-JP" altLang="en-US" sz="12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9750032-FAF5-6C27-D2DE-E0F0443C0DAD}"/>
              </a:ext>
            </a:extLst>
          </p:cNvPr>
          <p:cNvSpPr/>
          <p:nvPr/>
        </p:nvSpPr>
        <p:spPr>
          <a:xfrm>
            <a:off x="-1032096" y="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B3B6957-761B-8F7F-0D83-6158F883D925}"/>
              </a:ext>
            </a:extLst>
          </p:cNvPr>
          <p:cNvSpPr/>
          <p:nvPr/>
        </p:nvSpPr>
        <p:spPr>
          <a:xfrm>
            <a:off x="-2136619" y="720000"/>
            <a:ext cx="914400" cy="541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58DA71-4F19-EA0A-3B55-8E75A4D4A28F}"/>
              </a:ext>
            </a:extLst>
          </p:cNvPr>
          <p:cNvSpPr/>
          <p:nvPr/>
        </p:nvSpPr>
        <p:spPr>
          <a:xfrm>
            <a:off x="-1133193" y="613800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8" name="グラフィックス 27" descr="ドキュメント 枠線">
            <a:extLst>
              <a:ext uri="{FF2B5EF4-FFF2-40B4-BE49-F238E27FC236}">
                <a16:creationId xmlns:a16="http://schemas.microsoft.com/office/drawing/2014/main" id="{207FC23F-E102-AA8C-B1B2-B685CC9D4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74620" y="1104102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ドキュメント 枠線">
            <a:extLst>
              <a:ext uri="{FF2B5EF4-FFF2-40B4-BE49-F238E27FC236}">
                <a16:creationId xmlns:a16="http://schemas.microsoft.com/office/drawing/2014/main" id="{7B4EC4E1-F698-6BE7-2A65-F0AC1BD34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837000" y="4239377"/>
            <a:ext cx="914400" cy="914400"/>
          </a:xfrm>
          <a:prstGeom prst="rect">
            <a:avLst/>
          </a:prstGeom>
        </p:spPr>
      </p:pic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FF8126F9-9161-CD00-46CF-B6B4CE2A1706}"/>
              </a:ext>
            </a:extLst>
          </p:cNvPr>
          <p:cNvCxnSpPr>
            <a:stCxn id="101" idx="2"/>
            <a:endCxn id="111" idx="0"/>
          </p:cNvCxnSpPr>
          <p:nvPr/>
        </p:nvCxnSpPr>
        <p:spPr>
          <a:xfrm flipH="1">
            <a:off x="1384387" y="2970066"/>
            <a:ext cx="868614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B5430BE7-16CB-BA40-5026-32F3CF5AC990}"/>
              </a:ext>
            </a:extLst>
          </p:cNvPr>
          <p:cNvCxnSpPr>
            <a:cxnSpLocks/>
            <a:stCxn id="101" idx="2"/>
            <a:endCxn id="90" idx="0"/>
          </p:cNvCxnSpPr>
          <p:nvPr/>
        </p:nvCxnSpPr>
        <p:spPr>
          <a:xfrm>
            <a:off x="2253001" y="2970066"/>
            <a:ext cx="1531386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EBC37E0A-8E68-1A1E-839A-67AC36BB3DB3}"/>
              </a:ext>
            </a:extLst>
          </p:cNvPr>
          <p:cNvCxnSpPr>
            <a:cxnSpLocks/>
            <a:stCxn id="133" idx="2"/>
            <a:endCxn id="90" idx="0"/>
          </p:cNvCxnSpPr>
          <p:nvPr/>
        </p:nvCxnSpPr>
        <p:spPr>
          <a:xfrm flipH="1">
            <a:off x="3784387" y="2970066"/>
            <a:ext cx="1168614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796D62F3-1AA0-F6A3-8EDD-87E5F4F7EFEA}"/>
              </a:ext>
            </a:extLst>
          </p:cNvPr>
          <p:cNvCxnSpPr>
            <a:cxnSpLocks/>
            <a:stCxn id="79" idx="2"/>
            <a:endCxn id="107" idx="0"/>
          </p:cNvCxnSpPr>
          <p:nvPr/>
        </p:nvCxnSpPr>
        <p:spPr>
          <a:xfrm flipH="1">
            <a:off x="6184387" y="2970066"/>
            <a:ext cx="1468613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C57D181F-C1BE-985B-C56C-058426BBD9EC}"/>
              </a:ext>
            </a:extLst>
          </p:cNvPr>
          <p:cNvCxnSpPr>
            <a:cxnSpLocks/>
            <a:stCxn id="128" idx="0"/>
            <a:endCxn id="79" idx="2"/>
          </p:cNvCxnSpPr>
          <p:nvPr/>
        </p:nvCxnSpPr>
        <p:spPr>
          <a:xfrm flipH="1" flipV="1">
            <a:off x="7653000" y="2970066"/>
            <a:ext cx="931386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7F85C11E-36BD-78C6-158E-A1560CAD6B8B}"/>
              </a:ext>
            </a:extLst>
          </p:cNvPr>
          <p:cNvCxnSpPr>
            <a:cxnSpLocks/>
            <a:stCxn id="79" idx="2"/>
            <a:endCxn id="90" idx="0"/>
          </p:cNvCxnSpPr>
          <p:nvPr/>
        </p:nvCxnSpPr>
        <p:spPr>
          <a:xfrm flipH="1">
            <a:off x="3784387" y="2970066"/>
            <a:ext cx="3868613" cy="136793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C93855B-6D01-5406-A12B-0A63AEBC9BE1}"/>
              </a:ext>
            </a:extLst>
          </p:cNvPr>
          <p:cNvSpPr/>
          <p:nvPr/>
        </p:nvSpPr>
        <p:spPr>
          <a:xfrm>
            <a:off x="-1032096" y="719150"/>
            <a:ext cx="9144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E7115D3-A745-F62A-9AC1-9D3AE9C58067}"/>
              </a:ext>
            </a:extLst>
          </p:cNvPr>
          <p:cNvGrpSpPr/>
          <p:nvPr/>
        </p:nvGrpSpPr>
        <p:grpSpPr>
          <a:xfrm>
            <a:off x="11697156" y="3242850"/>
            <a:ext cx="914400" cy="1143000"/>
            <a:chOff x="10973256" y="3238350"/>
            <a:chExt cx="914400" cy="1143000"/>
          </a:xfrm>
        </p:grpSpPr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87986B74-35DE-2E3F-E24D-AC860B28EC9E}"/>
                </a:ext>
              </a:extLst>
            </p:cNvPr>
            <p:cNvSpPr/>
            <p:nvPr/>
          </p:nvSpPr>
          <p:spPr>
            <a:xfrm>
              <a:off x="10973256" y="3238350"/>
              <a:ext cx="914400" cy="567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4BC4EE5-F0D1-075D-1FCF-3A4955D7B040}"/>
                </a:ext>
              </a:extLst>
            </p:cNvPr>
            <p:cNvSpPr/>
            <p:nvPr/>
          </p:nvSpPr>
          <p:spPr>
            <a:xfrm>
              <a:off x="10973256" y="3814350"/>
              <a:ext cx="914400" cy="567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5224029-F5E2-6F37-02A9-F5BA4FCE2235}"/>
              </a:ext>
            </a:extLst>
          </p:cNvPr>
          <p:cNvSpPr/>
          <p:nvPr/>
        </p:nvSpPr>
        <p:spPr>
          <a:xfrm>
            <a:off x="10530512" y="3247350"/>
            <a:ext cx="914400" cy="567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E74D382-E9A4-C9C8-7905-43135117EE1B}"/>
              </a:ext>
            </a:extLst>
          </p:cNvPr>
          <p:cNvSpPr/>
          <p:nvPr/>
        </p:nvSpPr>
        <p:spPr>
          <a:xfrm>
            <a:off x="10530512" y="3823350"/>
            <a:ext cx="914400" cy="567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6EA7789-E4B5-652C-A2D6-1E1B55DA5369}"/>
              </a:ext>
            </a:extLst>
          </p:cNvPr>
          <p:cNvSpPr/>
          <p:nvPr/>
        </p:nvSpPr>
        <p:spPr>
          <a:xfrm>
            <a:off x="-3837000" y="1262950"/>
            <a:ext cx="9144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BE9188F-87D7-FE17-8F18-F5AD958DFF90}"/>
              </a:ext>
            </a:extLst>
          </p:cNvPr>
          <p:cNvSpPr/>
          <p:nvPr/>
        </p:nvSpPr>
        <p:spPr>
          <a:xfrm>
            <a:off x="-3837000" y="301450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240E2A4-5AB4-BA91-EE28-DDABF02944C4}"/>
              </a:ext>
            </a:extLst>
          </p:cNvPr>
          <p:cNvSpPr/>
          <p:nvPr/>
        </p:nvSpPr>
        <p:spPr>
          <a:xfrm>
            <a:off x="-3837000" y="617390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8699ED0E-EA22-53C6-1DCC-E0B2D3EEF289}"/>
              </a:ext>
            </a:extLst>
          </p:cNvPr>
          <p:cNvGrpSpPr/>
          <p:nvPr/>
        </p:nvGrpSpPr>
        <p:grpSpPr>
          <a:xfrm>
            <a:off x="273000" y="719150"/>
            <a:ext cx="9360000" cy="5598750"/>
            <a:chOff x="273000" y="719150"/>
            <a:chExt cx="9360000" cy="5598750"/>
          </a:xfrm>
        </p:grpSpPr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8130E54C-B8B3-B19F-8637-B3579E110ACB}"/>
                </a:ext>
              </a:extLst>
            </p:cNvPr>
            <p:cNvGrpSpPr/>
            <p:nvPr/>
          </p:nvGrpSpPr>
          <p:grpSpPr>
            <a:xfrm>
              <a:off x="273000" y="3270917"/>
              <a:ext cx="9360000" cy="594716"/>
              <a:chOff x="273000" y="3347084"/>
              <a:chExt cx="9360000" cy="594716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C77B8DBB-C6DE-976C-0EAA-589EAF062A4F}"/>
                  </a:ext>
                </a:extLst>
              </p:cNvPr>
              <p:cNvSpPr/>
              <p:nvPr/>
            </p:nvSpPr>
            <p:spPr>
              <a:xfrm>
                <a:off x="273000" y="3459050"/>
                <a:ext cx="9360000" cy="482750"/>
              </a:xfrm>
              <a:prstGeom prst="rect">
                <a:avLst/>
              </a:prstGeom>
              <a:noFill/>
              <a:ln w="19050" cap="flat" cmpd="sng" algn="ctr">
                <a:solidFill>
                  <a:srgbClr val="FF99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24D32C5B-01B1-20BD-AB65-236589274146}"/>
                  </a:ext>
                </a:extLst>
              </p:cNvPr>
              <p:cNvSpPr/>
              <p:nvPr/>
            </p:nvSpPr>
            <p:spPr>
              <a:xfrm>
                <a:off x="374600" y="3347084"/>
                <a:ext cx="1648616" cy="2235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グループ数</a:t>
                </a: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1B6E93F5-090E-8C05-09C0-B88AEBA67EA2}"/>
                </a:ext>
              </a:extLst>
            </p:cNvPr>
            <p:cNvGrpSpPr/>
            <p:nvPr/>
          </p:nvGrpSpPr>
          <p:grpSpPr>
            <a:xfrm>
              <a:off x="273000" y="4010134"/>
              <a:ext cx="9360000" cy="2307766"/>
              <a:chOff x="273000" y="4010134"/>
              <a:chExt cx="9360000" cy="2307766"/>
            </a:xfrm>
          </p:grpSpPr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7D8CEE1A-D63C-D829-EA01-C9BB4706886A}"/>
                  </a:ext>
                </a:extLst>
              </p:cNvPr>
              <p:cNvGrpSpPr/>
              <p:nvPr/>
            </p:nvGrpSpPr>
            <p:grpSpPr>
              <a:xfrm>
                <a:off x="484386" y="4338000"/>
                <a:ext cx="9000000" cy="1800000"/>
                <a:chOff x="484386" y="4338000"/>
                <a:chExt cx="9000000" cy="1800000"/>
              </a:xfrm>
            </p:grpSpPr>
            <p:grpSp>
              <p:nvGrpSpPr>
                <p:cNvPr id="93" name="グループ化 92">
                  <a:extLst>
                    <a:ext uri="{FF2B5EF4-FFF2-40B4-BE49-F238E27FC236}">
                      <a16:creationId xmlns:a16="http://schemas.microsoft.com/office/drawing/2014/main" id="{FF5A2DDA-59D9-3489-CD22-C0E6663394A4}"/>
                    </a:ext>
                  </a:extLst>
                </p:cNvPr>
                <p:cNvGrpSpPr/>
                <p:nvPr/>
              </p:nvGrpSpPr>
              <p:grpSpPr>
                <a:xfrm>
                  <a:off x="28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89" name="正方形/長方形 88">
                    <a:extLst>
                      <a:ext uri="{FF2B5EF4-FFF2-40B4-BE49-F238E27FC236}">
                        <a16:creationId xmlns:a16="http://schemas.microsoft.com/office/drawing/2014/main" id="{E12DAACC-E1ED-5D4D-6E52-1A8CDF0BC86C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90" name="正方形/長方形 89">
                    <a:extLst>
                      <a:ext uri="{FF2B5EF4-FFF2-40B4-BE49-F238E27FC236}">
                        <a16:creationId xmlns:a16="http://schemas.microsoft.com/office/drawing/2014/main" id="{18387711-0C0A-31EC-7959-99A4DBCFEE2B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92" name="グラフィックス 91" descr="ドキュメント 枠線">
                    <a:extLst>
                      <a:ext uri="{FF2B5EF4-FFF2-40B4-BE49-F238E27FC236}">
                        <a16:creationId xmlns:a16="http://schemas.microsoft.com/office/drawing/2014/main" id="{1E5A7416-E269-6C99-C151-DA100E2279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2" name="グループ化 101">
                  <a:extLst>
                    <a:ext uri="{FF2B5EF4-FFF2-40B4-BE49-F238E27FC236}">
                      <a16:creationId xmlns:a16="http://schemas.microsoft.com/office/drawing/2014/main" id="{731FC2C7-8A94-229B-5825-AB2FBE1A6881}"/>
                    </a:ext>
                  </a:extLst>
                </p:cNvPr>
                <p:cNvGrpSpPr/>
                <p:nvPr/>
              </p:nvGrpSpPr>
              <p:grpSpPr>
                <a:xfrm>
                  <a:off x="52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0A93F567-3A9B-3093-784A-F30AD7C6E9B6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07" name="正方形/長方形 106">
                    <a:extLst>
                      <a:ext uri="{FF2B5EF4-FFF2-40B4-BE49-F238E27FC236}">
                        <a16:creationId xmlns:a16="http://schemas.microsoft.com/office/drawing/2014/main" id="{192EADEF-CCE6-6108-7A17-0319EEA59BF2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08" name="グラフィックス 107" descr="ドキュメント 枠線">
                    <a:extLst>
                      <a:ext uri="{FF2B5EF4-FFF2-40B4-BE49-F238E27FC236}">
                        <a16:creationId xmlns:a16="http://schemas.microsoft.com/office/drawing/2014/main" id="{7673F4EA-27A9-0E0C-48CA-4F6EFED22D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グループ化 108">
                  <a:extLst>
                    <a:ext uri="{FF2B5EF4-FFF2-40B4-BE49-F238E27FC236}">
                      <a16:creationId xmlns:a16="http://schemas.microsoft.com/office/drawing/2014/main" id="{37F4EB34-5189-7ACA-39D7-D70C1A079948}"/>
                    </a:ext>
                  </a:extLst>
                </p:cNvPr>
                <p:cNvGrpSpPr/>
                <p:nvPr/>
              </p:nvGrpSpPr>
              <p:grpSpPr>
                <a:xfrm>
                  <a:off x="484386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10" name="正方形/長方形 109">
                    <a:extLst>
                      <a:ext uri="{FF2B5EF4-FFF2-40B4-BE49-F238E27FC236}">
                        <a16:creationId xmlns:a16="http://schemas.microsoft.com/office/drawing/2014/main" id="{7FE7B9FC-004F-3380-C7A2-4B629F6484A5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11" name="正方形/長方形 110">
                    <a:extLst>
                      <a:ext uri="{FF2B5EF4-FFF2-40B4-BE49-F238E27FC236}">
                        <a16:creationId xmlns:a16="http://schemas.microsoft.com/office/drawing/2014/main" id="{DA854764-27DC-5A7C-63E0-EA281F5FBC8E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12" name="グラフィックス 111" descr="ドキュメント 枠線">
                    <a:extLst>
                      <a:ext uri="{FF2B5EF4-FFF2-40B4-BE49-F238E27FC236}">
                        <a16:creationId xmlns:a16="http://schemas.microsoft.com/office/drawing/2014/main" id="{EBFE5DDA-5287-F4F0-173C-7D63A39BAA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6" name="グループ化 125">
                  <a:extLst>
                    <a:ext uri="{FF2B5EF4-FFF2-40B4-BE49-F238E27FC236}">
                      <a16:creationId xmlns:a16="http://schemas.microsoft.com/office/drawing/2014/main" id="{AA86AE42-621A-3F75-BA12-CC51E7D1A57D}"/>
                    </a:ext>
                  </a:extLst>
                </p:cNvPr>
                <p:cNvGrpSpPr/>
                <p:nvPr/>
              </p:nvGrpSpPr>
              <p:grpSpPr>
                <a:xfrm>
                  <a:off x="7684385" y="4338000"/>
                  <a:ext cx="1800001" cy="1800000"/>
                  <a:chOff x="3152999" y="3878610"/>
                  <a:chExt cx="1800001" cy="1800000"/>
                </a:xfrm>
              </p:grpSpPr>
              <p:sp>
                <p:nvSpPr>
                  <p:cNvPr id="127" name="正方形/長方形 126">
                    <a:extLst>
                      <a:ext uri="{FF2B5EF4-FFF2-40B4-BE49-F238E27FC236}">
                        <a16:creationId xmlns:a16="http://schemas.microsoft.com/office/drawing/2014/main" id="{B0951425-6233-2BE6-17AC-82EDE7AC01E5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Basis Patent</a:t>
                    </a:r>
                  </a:p>
                </p:txBody>
              </p:sp>
              <p:sp>
                <p:nvSpPr>
                  <p:cNvPr id="128" name="正方形/長方形 127">
                    <a:extLst>
                      <a:ext uri="{FF2B5EF4-FFF2-40B4-BE49-F238E27FC236}">
                        <a16:creationId xmlns:a16="http://schemas.microsoft.com/office/drawing/2014/main" id="{54087EE0-117B-3817-D24B-03441EFFCEC8}"/>
                      </a:ext>
                    </a:extLst>
                  </p:cNvPr>
                  <p:cNvSpPr/>
                  <p:nvPr/>
                </p:nvSpPr>
                <p:spPr>
                  <a:xfrm>
                    <a:off x="3152999" y="3878610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pic>
                <p:nvPicPr>
                  <p:cNvPr id="129" name="グラフィックス 128" descr="ドキュメント 枠線">
                    <a:extLst>
                      <a:ext uri="{FF2B5EF4-FFF2-40B4-BE49-F238E27FC236}">
                        <a16:creationId xmlns:a16="http://schemas.microsoft.com/office/drawing/2014/main" id="{BD614ACA-39C1-B031-CB27-C22B0C610C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2999" y="4598510"/>
                    <a:ext cx="1080000" cy="108000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0" name="グループ化 39">
                <a:extLst>
                  <a:ext uri="{FF2B5EF4-FFF2-40B4-BE49-F238E27FC236}">
                    <a16:creationId xmlns:a16="http://schemas.microsoft.com/office/drawing/2014/main" id="{1584B93E-285F-184B-5F7E-223FB57B2FB8}"/>
                  </a:ext>
                </a:extLst>
              </p:cNvPr>
              <p:cNvGrpSpPr/>
              <p:nvPr/>
            </p:nvGrpSpPr>
            <p:grpSpPr>
              <a:xfrm>
                <a:off x="273000" y="4010134"/>
                <a:ext cx="9360000" cy="2307766"/>
                <a:chOff x="273000" y="4010134"/>
                <a:chExt cx="9360000" cy="2307766"/>
              </a:xfrm>
            </p:grpSpPr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79556812-2CB6-E960-D24E-956FA19FDB9D}"/>
                    </a:ext>
                  </a:extLst>
                </p:cNvPr>
                <p:cNvSpPr/>
                <p:nvPr/>
              </p:nvSpPr>
              <p:spPr>
                <a:xfrm>
                  <a:off x="273000" y="4101050"/>
                  <a:ext cx="9360000" cy="221685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FF99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841789F7-5CD8-85FF-2D2D-89EAE21A29D7}"/>
                    </a:ext>
                  </a:extLst>
                </p:cNvPr>
                <p:cNvSpPr/>
                <p:nvPr/>
              </p:nvSpPr>
              <p:spPr>
                <a:xfrm>
                  <a:off x="374600" y="4010134"/>
                  <a:ext cx="1648616" cy="2235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rPr>
                    <a:t>ファミリー数</a:t>
                  </a:r>
                </a:p>
              </p:txBody>
            </p:sp>
          </p:grpSp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18A8ADA8-F023-8BB7-6129-9DDDAAB09DBA}"/>
                </a:ext>
              </a:extLst>
            </p:cNvPr>
            <p:cNvGrpSpPr/>
            <p:nvPr/>
          </p:nvGrpSpPr>
          <p:grpSpPr>
            <a:xfrm>
              <a:off x="273000" y="719150"/>
              <a:ext cx="9360000" cy="2407266"/>
              <a:chOff x="273000" y="869484"/>
              <a:chExt cx="9360000" cy="2407266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80C118BC-2B58-F4B7-4BD0-22DFF1E631B4}"/>
                  </a:ext>
                </a:extLst>
              </p:cNvPr>
              <p:cNvGrpSpPr/>
              <p:nvPr/>
            </p:nvGrpSpPr>
            <p:grpSpPr>
              <a:xfrm>
                <a:off x="1353000" y="1320400"/>
                <a:ext cx="7200000" cy="1800000"/>
                <a:chOff x="1379428" y="1422000"/>
                <a:chExt cx="7200000" cy="1800000"/>
              </a:xfrm>
            </p:grpSpPr>
            <p:grpSp>
              <p:nvGrpSpPr>
                <p:cNvPr id="75" name="グループ化 74">
                  <a:extLst>
                    <a:ext uri="{FF2B5EF4-FFF2-40B4-BE49-F238E27FC236}">
                      <a16:creationId xmlns:a16="http://schemas.microsoft.com/office/drawing/2014/main" id="{0CC1A002-ADA8-46A2-8A05-38AD9F927B91}"/>
                    </a:ext>
                  </a:extLst>
                </p:cNvPr>
                <p:cNvGrpSpPr/>
                <p:nvPr/>
              </p:nvGrpSpPr>
              <p:grpSpPr>
                <a:xfrm>
                  <a:off x="6779427" y="1422000"/>
                  <a:ext cx="1800001" cy="1800000"/>
                  <a:chOff x="673502" y="2344451"/>
                  <a:chExt cx="1800001" cy="1800000"/>
                </a:xfrm>
              </p:grpSpPr>
              <p:pic>
                <p:nvPicPr>
                  <p:cNvPr id="77" name="グラフィックス 76" descr="閉じた本 枠線">
                    <a:extLst>
                      <a:ext uri="{FF2B5EF4-FFF2-40B4-BE49-F238E27FC236}">
                        <a16:creationId xmlns:a16="http://schemas.microsoft.com/office/drawing/2014/main" id="{2BD1D724-88D2-9D08-57FA-9EED91619A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33502" y="3064451"/>
                    <a:ext cx="1080000" cy="1080000"/>
                  </a:xfrm>
                  <a:prstGeom prst="rect">
                    <a:avLst/>
                  </a:prstGeom>
                </p:spPr>
              </p:pic>
              <p:sp>
                <p:nvSpPr>
                  <p:cNvPr id="78" name="正方形/長方形 77">
                    <a:extLst>
                      <a:ext uri="{FF2B5EF4-FFF2-40B4-BE49-F238E27FC236}">
                        <a16:creationId xmlns:a16="http://schemas.microsoft.com/office/drawing/2014/main" id="{88F2F369-6483-1310-DB99-D3F03C0E34BA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LICENSING DECLARATION</a:t>
                    </a:r>
                  </a:p>
                </p:txBody>
              </p:sp>
              <p:sp>
                <p:nvSpPr>
                  <p:cNvPr id="79" name="正方形/長方形 78">
                    <a:extLst>
                      <a:ext uri="{FF2B5EF4-FFF2-40B4-BE49-F238E27FC236}">
                        <a16:creationId xmlns:a16="http://schemas.microsoft.com/office/drawing/2014/main" id="{96AD217D-7DEF-7E0F-D6DD-3285C8D2A8A3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grpSp>
              <p:nvGrpSpPr>
                <p:cNvPr id="94" name="グループ化 93">
                  <a:extLst>
                    <a:ext uri="{FF2B5EF4-FFF2-40B4-BE49-F238E27FC236}">
                      <a16:creationId xmlns:a16="http://schemas.microsoft.com/office/drawing/2014/main" id="{C43D2C3D-09CE-FA5A-C679-AF0B2AFE3D01}"/>
                    </a:ext>
                  </a:extLst>
                </p:cNvPr>
                <p:cNvGrpSpPr/>
                <p:nvPr/>
              </p:nvGrpSpPr>
              <p:grpSpPr>
                <a:xfrm>
                  <a:off x="1379428" y="1422000"/>
                  <a:ext cx="1800001" cy="1800000"/>
                  <a:chOff x="673502" y="2344451"/>
                  <a:chExt cx="1800001" cy="1800000"/>
                </a:xfrm>
              </p:grpSpPr>
              <p:pic>
                <p:nvPicPr>
                  <p:cNvPr id="95" name="グラフィックス 94" descr="閉じた本 枠線">
                    <a:extLst>
                      <a:ext uri="{FF2B5EF4-FFF2-40B4-BE49-F238E27FC236}">
                        <a16:creationId xmlns:a16="http://schemas.microsoft.com/office/drawing/2014/main" id="{CF755D50-531A-8D61-20A8-3F5D974266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33502" y="3064451"/>
                    <a:ext cx="1080000" cy="1080000"/>
                  </a:xfrm>
                  <a:prstGeom prst="rect">
                    <a:avLst/>
                  </a:prstGeom>
                </p:spPr>
              </p:pic>
              <p:sp>
                <p:nvSpPr>
                  <p:cNvPr id="96" name="正方形/長方形 95">
                    <a:extLst>
                      <a:ext uri="{FF2B5EF4-FFF2-40B4-BE49-F238E27FC236}">
                        <a16:creationId xmlns:a16="http://schemas.microsoft.com/office/drawing/2014/main" id="{8F9FF45F-BE8C-F774-16D8-D0D1F1B60F47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LICENSING DECLARATION</a:t>
                    </a:r>
                  </a:p>
                </p:txBody>
              </p:sp>
              <p:sp>
                <p:nvSpPr>
                  <p:cNvPr id="101" name="正方形/長方形 100">
                    <a:extLst>
                      <a:ext uri="{FF2B5EF4-FFF2-40B4-BE49-F238E27FC236}">
                        <a16:creationId xmlns:a16="http://schemas.microsoft.com/office/drawing/2014/main" id="{259FE993-8D6C-FA15-58CD-BF5B33E7BF4C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9BF1FDE2-90D9-EF9B-99FB-C903C1971760}"/>
                    </a:ext>
                  </a:extLst>
                </p:cNvPr>
                <p:cNvGrpSpPr/>
                <p:nvPr/>
              </p:nvGrpSpPr>
              <p:grpSpPr>
                <a:xfrm>
                  <a:off x="4079428" y="1422000"/>
                  <a:ext cx="1800001" cy="1800000"/>
                  <a:chOff x="673502" y="2344451"/>
                  <a:chExt cx="1800001" cy="1800000"/>
                </a:xfrm>
              </p:grpSpPr>
              <p:pic>
                <p:nvPicPr>
                  <p:cNvPr id="131" name="グラフィックス 130" descr="閉じた本 枠線">
                    <a:extLst>
                      <a:ext uri="{FF2B5EF4-FFF2-40B4-BE49-F238E27FC236}">
                        <a16:creationId xmlns:a16="http://schemas.microsoft.com/office/drawing/2014/main" id="{86C57BF2-F21E-E0F8-1D81-B629AB1C01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33502" y="3064451"/>
                    <a:ext cx="1080000" cy="1080000"/>
                  </a:xfrm>
                  <a:prstGeom prst="rect">
                    <a:avLst/>
                  </a:prstGeom>
                </p:spPr>
              </p:pic>
              <p:sp>
                <p:nvSpPr>
                  <p:cNvPr id="132" name="正方形/長方形 131">
                    <a:extLst>
                      <a:ext uri="{FF2B5EF4-FFF2-40B4-BE49-F238E27FC236}">
                        <a16:creationId xmlns:a16="http://schemas.microsoft.com/office/drawing/2014/main" id="{AEC5016C-0CDE-BD41-5AF8-249E47EAD72F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0" cy="720000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Segoe UI" panose="020B0502040204020203" pitchFamily="34" charset="0"/>
                        <a:ea typeface="メイリオ" panose="020B0604030504040204" pitchFamily="50" charset="-128"/>
                        <a:cs typeface="Segoe UI" panose="020B0502040204020203" pitchFamily="34" charset="0"/>
                      </a:rPr>
                      <a:t>LICENSING DECLARATION</a:t>
                    </a:r>
                  </a:p>
                </p:txBody>
              </p:sp>
              <p:sp>
                <p:nvSpPr>
                  <p:cNvPr id="133" name="正方形/長方形 132">
                    <a:extLst>
                      <a:ext uri="{FF2B5EF4-FFF2-40B4-BE49-F238E27FC236}">
                        <a16:creationId xmlns:a16="http://schemas.microsoft.com/office/drawing/2014/main" id="{F274064A-6756-8C44-D651-8F61D5B55262}"/>
                      </a:ext>
                    </a:extLst>
                  </p:cNvPr>
                  <p:cNvSpPr/>
                  <p:nvPr/>
                </p:nvSpPr>
                <p:spPr>
                  <a:xfrm>
                    <a:off x="673502" y="2344451"/>
                    <a:ext cx="1800001" cy="1800000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</p:grp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1DA7DDE7-2701-4BF7-D69D-B8710EA21E27}"/>
                  </a:ext>
                </a:extLst>
              </p:cNvPr>
              <p:cNvSpPr/>
              <p:nvPr/>
            </p:nvSpPr>
            <p:spPr>
              <a:xfrm>
                <a:off x="273000" y="1002502"/>
                <a:ext cx="9360000" cy="2274248"/>
              </a:xfrm>
              <a:prstGeom prst="rect">
                <a:avLst/>
              </a:prstGeom>
              <a:noFill/>
              <a:ln w="19050" cap="flat" cmpd="sng" algn="ctr">
                <a:solidFill>
                  <a:srgbClr val="FF99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8EC00383-E620-D3E0-1408-1A0D7E370AA4}"/>
                  </a:ext>
                </a:extLst>
              </p:cNvPr>
              <p:cNvSpPr/>
              <p:nvPr/>
            </p:nvSpPr>
            <p:spPr>
              <a:xfrm>
                <a:off x="374600" y="869484"/>
                <a:ext cx="1648616" cy="2235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宣言数</a:t>
                </a:r>
                <a:endPara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</p:grp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16DE5D6-AF41-7221-F44F-C54591E2B78D}"/>
              </a:ext>
            </a:extLst>
          </p:cNvPr>
          <p:cNvSpPr/>
          <p:nvPr/>
        </p:nvSpPr>
        <p:spPr>
          <a:xfrm>
            <a:off x="-3837000" y="3170850"/>
            <a:ext cx="914400" cy="1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6486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A2955-DD00-A764-149D-B7BF9F45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データ分析をしよう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5D7AF2-DE11-292F-2965-82AA0A5CC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BBAECF-9047-C528-D474-CB629A8A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CC0EE-B6C6-4FD0-9EEE-3BB44409059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93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82B7A54-2E24-FC89-FF24-64FCAE07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データの信ぴょう性について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0F9EF0-7E7E-0099-71E5-A58F56A0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11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0D1A43D-730B-2C34-A133-7FC0FD943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1" lang="ja-JP" altLang="en-US" dirty="0"/>
              <a:t>企業間によって、データが</a:t>
            </a:r>
            <a:r>
              <a:rPr kumimoji="1" lang="en-US" altLang="ja-JP" dirty="0"/>
              <a:t>NULL</a:t>
            </a:r>
            <a:r>
              <a:rPr kumimoji="1" lang="ja-JP" altLang="en-US" dirty="0"/>
              <a:t>（未記入）である割合が異なる。</a:t>
            </a:r>
          </a:p>
        </p:txBody>
      </p:sp>
      <p:graphicFrame>
        <p:nvGraphicFramePr>
          <p:cNvPr id="11" name="コンテンツ プレースホルダー 10">
            <a:extLst>
              <a:ext uri="{FF2B5EF4-FFF2-40B4-BE49-F238E27FC236}">
                <a16:creationId xmlns:a16="http://schemas.microsoft.com/office/drawing/2014/main" id="{8835C9A0-03D1-326C-4E6E-BA55D5D54D5B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612905438"/>
              </p:ext>
            </p:extLst>
          </p:nvPr>
        </p:nvGraphicFramePr>
        <p:xfrm>
          <a:off x="1" y="4059237"/>
          <a:ext cx="9906000" cy="207010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70220864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63942626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78911737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95388564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56232558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58198929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223112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45806507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131907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16419838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9625068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0823524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90139963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05373716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162928847"/>
                    </a:ext>
                  </a:extLst>
                </a:gridCol>
              </a:tblGrid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company</a:t>
                      </a:r>
                      <a:endParaRPr lang="ja-JP" sz="10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LICD_REC_CONDI_FLAG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DIPG_PATF_ID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PUBL_NUMBER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PBPA_APP_DATE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TGPP_NUMBER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TGPV_VERSION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Standard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Gen_2G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Gen_3G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Gen_4G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Gen_5G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Ess_To_Standard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Ess_To_Project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Illustrative_Part</a:t>
                      </a:r>
                      <a:endParaRPr lang="ja-JP" sz="7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124655"/>
                  </a:ext>
                </a:extLst>
              </a:tr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Ericsson</a:t>
                      </a:r>
                      <a:endParaRPr lang="ja-JP" sz="105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34.68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8.13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19.04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13.09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34.67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53.16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31.74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34.74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34.74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34.74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34.74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31.74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64.95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252248"/>
                  </a:ext>
                </a:extLst>
              </a:tr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Huawei</a:t>
                      </a:r>
                      <a:endParaRPr lang="ja-JP" sz="105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0.39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9.04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12.27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8.69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2.26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99.81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2.28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2.28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2.28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2.28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0.32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99.85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961549"/>
                  </a:ext>
                </a:extLst>
              </a:tr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ja-JP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NEC</a:t>
                      </a:r>
                      <a:endParaRPr lang="ja-JP" sz="105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2.46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5.79</a:t>
                      </a:r>
                      <a:endParaRPr lang="ja-JP" sz="1600" kern="10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4.25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5.42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16.58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0.03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5.42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5.42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5.42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5.42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0.03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0.01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11.02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10873"/>
                  </a:ext>
                </a:extLst>
              </a:tr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NTT</a:t>
                      </a:r>
                      <a:r>
                        <a:rPr lang="ja-JP" alt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Docomo</a:t>
                      </a:r>
                      <a:endParaRPr lang="ja-JP" sz="105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1.84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6.74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1.97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0.81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0.96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0.51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0.84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0.51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2.63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34.27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50054"/>
                  </a:ext>
                </a:extLst>
              </a:tr>
              <a:tr h="3450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Toyota</a:t>
                      </a:r>
                      <a:endParaRPr lang="ja-JP" sz="105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0.97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3.73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0.24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sz="1600" kern="100" dirty="0"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0.97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0.97</a:t>
                      </a:r>
                      <a:endParaRPr lang="ja-JP" sz="1600" kern="1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Times New Roman" panose="02020603050405020304" pitchFamily="18" charset="0"/>
                      </a:endParaRPr>
                    </a:p>
                  </a:txBody>
                  <a:tcPr marL="23720" marR="237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135521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9">
            <a:extLst>
              <a:ext uri="{FF2B5EF4-FFF2-40B4-BE49-F238E27FC236}">
                <a16:creationId xmlns:a16="http://schemas.microsoft.com/office/drawing/2014/main" id="{238F27A1-EE7A-C26C-A512-8ACD7357EE4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86948738"/>
              </p:ext>
            </p:extLst>
          </p:nvPr>
        </p:nvGraphicFramePr>
        <p:xfrm>
          <a:off x="0" y="728663"/>
          <a:ext cx="9906000" cy="3240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806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プレースホルダー 8">
            <a:extLst>
              <a:ext uri="{FF2B5EF4-FFF2-40B4-BE49-F238E27FC236}">
                <a16:creationId xmlns:a16="http://schemas.microsoft.com/office/drawing/2014/main" id="{879F13A9-4F7C-03A1-3692-123B3EA1208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499"/>
            <a:ext cx="9906000" cy="4953000"/>
          </a:xfrm>
          <a:prstGeom prst="rect">
            <a:avLst/>
          </a:prstGeom>
          <a:noFill/>
        </p:spPr>
      </p:pic>
      <p:sp>
        <p:nvSpPr>
          <p:cNvPr id="18" name="Title 2">
            <a:extLst>
              <a:ext uri="{FF2B5EF4-FFF2-40B4-BE49-F238E27FC236}">
                <a16:creationId xmlns:a16="http://schemas.microsoft.com/office/drawing/2014/main" id="{CC4BDAAA-5A5F-4347-9164-92B32A73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9390"/>
            <a:ext cx="8543925" cy="540000"/>
          </a:xfrm>
        </p:spPr>
        <p:txBody>
          <a:bodyPr/>
          <a:lstStyle/>
          <a:p>
            <a:r>
              <a:rPr lang="ja-JP" altLang="en-US" dirty="0"/>
              <a:t>各</a:t>
            </a:r>
            <a:r>
              <a:rPr lang="en-US" altLang="ja-JP" dirty="0"/>
              <a:t>release</a:t>
            </a:r>
            <a:r>
              <a:rPr lang="ja-JP" altLang="en-US" dirty="0"/>
              <a:t>と出願件数の増減</a:t>
            </a:r>
            <a:endParaRPr 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40528C-B0CF-EBDD-C4A2-702CD386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612" y="99390"/>
            <a:ext cx="540000" cy="54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08998BD-9759-42E8-BE15-7691A16D7AD5}" type="slidenum">
              <a:rPr lang="ja-JP" altLang="en-US" smtClean="0"/>
              <a:pPr>
                <a:spcAft>
                  <a:spcPts val="600"/>
                </a:spcAft>
              </a:pPr>
              <a:t>12</a:t>
            </a:fld>
            <a:endParaRPr lang="ja-JP" alt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C24CE92-F1E0-0A0A-4E5F-FA6FF1254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000" y="6218610"/>
            <a:ext cx="9360000" cy="540000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dirty="0"/>
              <a:t>JP</a:t>
            </a:r>
            <a:r>
              <a:rPr lang="ja-JP" altLang="en-US" dirty="0"/>
              <a:t>への出願件数について、</a:t>
            </a:r>
            <a:r>
              <a:rPr lang="en-US" altLang="ja-JP" dirty="0"/>
              <a:t>release</a:t>
            </a:r>
            <a:r>
              <a:rPr lang="ja-JP" altLang="en-US" dirty="0"/>
              <a:t>との相関があるか無いかがいまいちよくわからない。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98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4F02C-3F3C-FB26-9BD0-E0A154A98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A86ED8-65EF-2C2B-459E-765A0BF0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13</a:t>
            </a:fld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751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425AF-ADCC-BC67-8BE4-28B21828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【</a:t>
            </a:r>
            <a:r>
              <a:rPr lang="ja-JP" altLang="en-US" dirty="0"/>
              <a:t>参考</a:t>
            </a:r>
            <a:r>
              <a:rPr lang="en-US" altLang="ja-JP" dirty="0"/>
              <a:t>】</a:t>
            </a:r>
            <a:r>
              <a:rPr lang="ja-JP" altLang="en-US" dirty="0"/>
              <a:t>分析例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93094D9-04B4-AC67-0EC3-0F6C5CB4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14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63308A-A257-A6A9-BFF4-9E247E60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1" lang="ja-JP" altLang="en-US" dirty="0"/>
              <a:t>日本における</a:t>
            </a:r>
            <a:r>
              <a:rPr kumimoji="1" lang="en-US" altLang="ja-JP" dirty="0"/>
              <a:t>5G</a:t>
            </a:r>
            <a:r>
              <a:rPr kumimoji="1" lang="ja-JP" altLang="en-US" dirty="0"/>
              <a:t>の出願に占める、</a:t>
            </a:r>
            <a:r>
              <a:rPr kumimoji="1" lang="en-US" altLang="ja-JP" dirty="0"/>
              <a:t>ETPR_ID</a:t>
            </a:r>
            <a:r>
              <a:rPr kumimoji="1" lang="ja-JP" altLang="en-US" dirty="0"/>
              <a:t>の割合。</a:t>
            </a:r>
          </a:p>
        </p:txBody>
      </p:sp>
      <p:graphicFrame>
        <p:nvGraphicFramePr>
          <p:cNvPr id="6" name="図プレースホルダー 5">
            <a:extLst>
              <a:ext uri="{FF2B5EF4-FFF2-40B4-BE49-F238E27FC236}">
                <a16:creationId xmlns:a16="http://schemas.microsoft.com/office/drawing/2014/main" id="{E30E5F9B-0160-4542-A472-3A6D305628BA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227060459"/>
              </p:ext>
            </p:extLst>
          </p:nvPr>
        </p:nvGraphicFramePr>
        <p:xfrm>
          <a:off x="0" y="728663"/>
          <a:ext cx="9906000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719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0E8CD-462B-8C69-60FB-E7FD675F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【</a:t>
            </a:r>
            <a:r>
              <a:rPr kumimoji="1" lang="ja-JP" altLang="en-US" dirty="0"/>
              <a:t>参考</a:t>
            </a:r>
            <a:r>
              <a:rPr kumimoji="1" lang="en-US" altLang="ja-JP" dirty="0"/>
              <a:t>】</a:t>
            </a:r>
            <a:r>
              <a:rPr kumimoji="1" lang="ja-JP" altLang="en-US" dirty="0"/>
              <a:t>分析例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EBF7C18-AA2D-2C8B-7AFD-D7EC3F66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15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CBA161-1FB6-0B22-1BE2-9E4A19424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3GPP-Release-12 | GSM Phase 2+ and UMTS/LTE/LTE-Advanced release 12</a:t>
            </a:r>
            <a:r>
              <a:rPr lang="ja-JP" altLang="en-US" dirty="0"/>
              <a:t>に関連する宣言をした企業の割合を分析する。（</a:t>
            </a:r>
            <a:r>
              <a:rPr lang="en-US" altLang="ja-JP" dirty="0"/>
              <a:t>ETPR_ID</a:t>
            </a:r>
            <a:r>
              <a:rPr lang="ja-JP" altLang="en-US" dirty="0"/>
              <a:t>　＝　</a:t>
            </a:r>
            <a:r>
              <a:rPr lang="en-US" altLang="ja-JP" dirty="0"/>
              <a:t>876</a:t>
            </a:r>
            <a:r>
              <a:rPr lang="ja-JP" altLang="en-US" dirty="0"/>
              <a:t>）</a:t>
            </a:r>
            <a:endParaRPr kumimoji="1" lang="en-US" altLang="ja-JP" dirty="0"/>
          </a:p>
        </p:txBody>
      </p:sp>
      <p:graphicFrame>
        <p:nvGraphicFramePr>
          <p:cNvPr id="6" name="図プレースホルダー 5">
            <a:extLst>
              <a:ext uri="{FF2B5EF4-FFF2-40B4-BE49-F238E27FC236}">
                <a16:creationId xmlns:a16="http://schemas.microsoft.com/office/drawing/2014/main" id="{A9B5B282-C04F-C946-4F71-B96AEAC6848F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074708270"/>
              </p:ext>
            </p:extLst>
          </p:nvPr>
        </p:nvGraphicFramePr>
        <p:xfrm>
          <a:off x="0" y="728663"/>
          <a:ext cx="9906000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202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085B3EC-6709-F7BD-DBDE-207408899CF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ja-JP" dirty="0"/>
              <a:t>ETSI, </a:t>
            </a:r>
            <a:r>
              <a:rPr kumimoji="1" lang="en-US" altLang="ja-JP" dirty="0">
                <a:hlinkClick r:id="rId2"/>
              </a:rPr>
              <a:t>IPR CSV export file</a:t>
            </a:r>
            <a:r>
              <a:rPr kumimoji="1" lang="en-US" altLang="ja-JP" dirty="0"/>
              <a:t>, https://docbox.etsi.org/IPR/Open</a:t>
            </a:r>
          </a:p>
          <a:p>
            <a:r>
              <a:rPr kumimoji="1" lang="en-US" altLang="ja-JP" dirty="0"/>
              <a:t>ETSI, </a:t>
            </a:r>
            <a:r>
              <a:rPr kumimoji="1" lang="en-US" altLang="ja-JP" dirty="0">
                <a:hlinkClick r:id="rId3"/>
              </a:rPr>
              <a:t>ETSI IPR Reporting Solutions</a:t>
            </a:r>
            <a:r>
              <a:rPr kumimoji="1" lang="en-US" altLang="ja-JP" dirty="0"/>
              <a:t>, https://help.etsi.org/index.php?title=ETSI_IPR_Reporting_Solutions</a:t>
            </a:r>
          </a:p>
          <a:p>
            <a:r>
              <a:rPr kumimoji="1" lang="en-US" altLang="ja-JP" dirty="0"/>
              <a:t>ETSI, </a:t>
            </a:r>
            <a:r>
              <a:rPr kumimoji="1" lang="en-US" altLang="ja-JP" dirty="0">
                <a:hlinkClick r:id="rId4"/>
              </a:rPr>
              <a:t>IPR INFORMATION(ISLD-201608-010)</a:t>
            </a:r>
            <a:r>
              <a:rPr kumimoji="1" lang="en-US" altLang="ja-JP" dirty="0"/>
              <a:t>, https://ipr.etsi.org/IPRDetails.aspx?IPRD_ID=2381&amp;IPRD_TYPE_ID=2&amp;MODE=2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DB08AC7-9DCE-BC97-F952-8B2A06AE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DEBAAB-F6A3-99F5-9143-78DC2E94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98BD-9759-42E8-BE15-7691A16D7AD5}" type="slidenum">
              <a:rPr lang="ja-JP" altLang="en-US" smtClean="0"/>
              <a:pPr/>
              <a:t>16</a:t>
            </a:fld>
            <a:endParaRPr lang="ja-JP" altLang="en-US" sz="12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630FD3-3F79-E0AF-1500-D8E4D25FA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437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2264</TotalTime>
  <Words>1634</Words>
  <Application>Microsoft Office PowerPoint</Application>
  <PresentationFormat>A4 210 x 297 mm</PresentationFormat>
  <Paragraphs>559</Paragraphs>
  <Slides>17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メイリオ</vt:lpstr>
      <vt:lpstr>Arial</vt:lpstr>
      <vt:lpstr>Cambria Math</vt:lpstr>
      <vt:lpstr>Segoe UI</vt:lpstr>
      <vt:lpstr>Office テーマ</vt:lpstr>
      <vt:lpstr>IPR reporting dataを見つめる</vt:lpstr>
      <vt:lpstr>公式の分析ツール</vt:lpstr>
      <vt:lpstr>IPR reporting dataにおける各レコードの内容</vt:lpstr>
      <vt:lpstr>分析の基準を考える</vt:lpstr>
      <vt:lpstr>IPR INFORMATION STATEMENT AND LICENSING DECLARATIONの内容</vt:lpstr>
      <vt:lpstr>分析の基準を考える</vt:lpstr>
      <vt:lpstr>分析の基準を考える</vt:lpstr>
      <vt:lpstr>データベースの構造</vt:lpstr>
      <vt:lpstr>データベースの構造</vt:lpstr>
      <vt:lpstr>データベースの構造</vt:lpstr>
      <vt:lpstr>データ分析をしよう</vt:lpstr>
      <vt:lpstr>データの信ぴょう性について</vt:lpstr>
      <vt:lpstr>各releaseと出願件数の増減</vt:lpstr>
      <vt:lpstr>PowerPoint プレゼンテーション</vt:lpstr>
      <vt:lpstr>【参考】分析例</vt:lpstr>
      <vt:lpstr>【参考】分析例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yohei iihoshi</dc:creator>
  <cp:lastModifiedBy>yohei iihoshi</cp:lastModifiedBy>
  <cp:revision>213</cp:revision>
  <dcterms:created xsi:type="dcterms:W3CDTF">2026-02-07T09:45:16Z</dcterms:created>
  <dcterms:modified xsi:type="dcterms:W3CDTF">2026-02-15T14:41:35Z</dcterms:modified>
</cp:coreProperties>
</file>